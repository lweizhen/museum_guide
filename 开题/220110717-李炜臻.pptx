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media/image12.svg" ContentType="image/svg+xml"/>
  <Override PartName="/ppt/media/image14.svg" ContentType="image/svg+xml"/>
  <Override PartName="/ppt/media/image16.svg" ContentType="image/svg+xml"/>
  <Override PartName="/ppt/media/image21.svg" ContentType="image/svg+xml"/>
  <Override PartName="/ppt/media/image23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7" embedTrueTypeFonts="1" saveSubsetFonts="1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76" r:id="rId3"/>
    <p:sldId id="892" r:id="rId5"/>
    <p:sldId id="893" r:id="rId6"/>
    <p:sldId id="895" r:id="rId7"/>
    <p:sldId id="929" r:id="rId8"/>
    <p:sldId id="933" r:id="rId9"/>
    <p:sldId id="857" r:id="rId10"/>
    <p:sldId id="513" r:id="rId11"/>
    <p:sldId id="859" r:id="rId12"/>
    <p:sldId id="912" r:id="rId13"/>
    <p:sldId id="936" r:id="rId14"/>
    <p:sldId id="938" r:id="rId15"/>
    <p:sldId id="921" r:id="rId16"/>
    <p:sldId id="922" r:id="rId17"/>
    <p:sldId id="920" r:id="rId18"/>
  </p:sldIdLst>
  <p:sldSz cx="12192000" cy="6858000"/>
  <p:notesSz cx="6858000" cy="9144000"/>
  <p:embeddedFontLst>
    <p:embeddedFont>
      <p:font typeface="微软雅黑" panose="020B0503020204020204" charset="-122"/>
      <p:regular r:id="rId23"/>
    </p:embeddedFont>
    <p:embeddedFont>
      <p:font typeface="黑体" panose="02010609060101010101" charset="-122"/>
      <p:regular r:id="rId24"/>
    </p:embeddedFont>
    <p:embeddedFont>
      <p:font typeface="等线" panose="02010600030101010101" charset="-122"/>
      <p:regular r:id="rId25"/>
    </p:embeddedFont>
    <p:embeddedFont>
      <p:font typeface="方正大标宋_GBK" panose="03000509000000000000" pitchFamily="65" charset="-122"/>
      <p:regular r:id="rId26"/>
    </p:embeddedFont>
    <p:embeddedFont>
      <p:font typeface="仿宋" panose="02010609060101010101" pitchFamily="49" charset="-122"/>
      <p:regular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</p:embeddedFontLst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68D"/>
    <a:srgbClr val="004E98"/>
    <a:srgbClr val="EBEEF4"/>
    <a:srgbClr val="0F6D9C"/>
    <a:srgbClr val="CCD4E3"/>
    <a:srgbClr val="95A3C6"/>
    <a:srgbClr val="6C9EFF"/>
    <a:srgbClr val="469EFF"/>
    <a:srgbClr val="FFFFFF"/>
    <a:srgbClr val="919F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84136" autoAdjust="0"/>
  </p:normalViewPr>
  <p:slideViewPr>
    <p:cSldViewPr>
      <p:cViewPr varScale="1">
        <p:scale>
          <a:sx n="72" d="100"/>
          <a:sy n="72" d="100"/>
        </p:scale>
        <p:origin x="1104" y="67"/>
      </p:cViewPr>
      <p:guideLst/>
    </p:cSldViewPr>
  </p:slideViewPr>
  <p:outlineViewPr>
    <p:cViewPr>
      <p:scale>
        <a:sx n="33" d="100"/>
        <a:sy n="33" d="100"/>
      </p:scale>
      <p:origin x="0" y="-408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7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gs" Target="tags/tag250.xml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973FD-4896-4697-BA13-C4A784E342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12D51C-6ABC-4687-9255-3BCF9BAFDFD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B9FE5A-EF66-4766-8407-3544EDF3E80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6C3075-5FC6-4713-9D9C-EE6B985216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9FE5A-EF66-4766-8407-3544EDF3E8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9FE5A-EF66-4766-8407-3544EDF3E8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9FE5A-EF66-4766-8407-3544EDF3E8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9FE5A-EF66-4766-8407-3544EDF3E8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B9FE5A-EF66-4766-8407-3544EDF3E80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image" Target="../media/image2.jpe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11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10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17.xml"/><Relationship Id="rId11" Type="http://schemas.openxmlformats.org/officeDocument/2006/relationships/image" Target="../media/image6.png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2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24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33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3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image" Target="file:///C:\Users\1V994W2\Documents\Tencent%20Files\574576071\FileRecv\&#25340;&#35013;&#32032;&#26448;\formiddle1\\35\subject_holdleft_91,155,213_0_staid_full_0.png" TargetMode="External"/><Relationship Id="rId3" Type="http://schemas.openxmlformats.org/officeDocument/2006/relationships/image" Target="../media/image7.png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5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51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6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59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6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66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4.png"/><Relationship Id="rId5" Type="http://schemas.openxmlformats.org/officeDocument/2006/relationships/tags" Target="../tags/tag79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3.png"/><Relationship Id="rId2" Type="http://schemas.openxmlformats.org/officeDocument/2006/relationships/tags" Target="../tags/tag78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8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10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11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12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tags" Target="../tags/tag124.xml"/><Relationship Id="rId11" Type="http://schemas.openxmlformats.org/officeDocument/2006/relationships/tags" Target="../tags/tag123.xml"/><Relationship Id="rId10" Type="http://schemas.openxmlformats.org/officeDocument/2006/relationships/tags" Target="../tags/tag122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4.png"/><Relationship Id="rId6" Type="http://schemas.openxmlformats.org/officeDocument/2006/relationships/tags" Target="../tags/tag131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3.png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tags" Target="../tags/tag137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8"/>
            </p:custDataLst>
          </p:nvPr>
        </p:nvSpPr>
        <p:spPr>
          <a:xfrm>
            <a:off x="2921000" y="2746375"/>
            <a:ext cx="6350000" cy="1330960"/>
          </a:xfrm>
        </p:spPr>
        <p:txBody>
          <a:bodyPr vert="horz" wrap="square" lIns="91440" tIns="45720" rIns="91440" bIns="45720" anchor="b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Font typeface="Arial" panose="020B0604020202020204" pitchFamily="34" charset="0"/>
              <a:buNone/>
              <a:defRPr sz="7200" b="0" spc="-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9"/>
            </p:custDataLst>
          </p:nvPr>
        </p:nvSpPr>
        <p:spPr>
          <a:xfrm>
            <a:off x="2921001" y="4376932"/>
            <a:ext cx="6350000" cy="468120"/>
          </a:xfrm>
        </p:spPr>
        <p:txBody>
          <a:bodyPr vert="horz" wrap="square" lIns="91440" tIns="45720" rIns="91440" bIns="4572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20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>
            <p:custDataLst>
              <p:tags r:id="rId10"/>
            </p:custDataLst>
          </p:nvPr>
        </p:nvCxnSpPr>
        <p:spPr>
          <a:xfrm>
            <a:off x="3107055" y="4280535"/>
            <a:ext cx="597789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8733493" y="6366031"/>
            <a:ext cx="2700000" cy="316800"/>
          </a:xfrm>
        </p:spPr>
        <p:txBody>
          <a:bodyPr wrap="square">
            <a:noAutofit/>
          </a:bodyPr>
          <a:lstStyle>
            <a:lvl1pPr>
              <a:defRPr sz="160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4816425" y="6359068"/>
            <a:ext cx="2559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kern="0" baseline="0" dirty="0">
                <a:solidFill>
                  <a:srgbClr val="004E98"/>
                </a:solidFill>
                <a:latin typeface="+mj-lt"/>
                <a:ea typeface="宋体" panose="02010600030101010101" pitchFamily="2" charset="-122"/>
              </a:rPr>
              <a:t>本科毕业论文开题答辩</a:t>
            </a:r>
            <a:endParaRPr lang="zh-CN" altLang="en-US" sz="1600" kern="0" baseline="0" dirty="0">
              <a:solidFill>
                <a:srgbClr val="004E98"/>
              </a:solidFill>
              <a:latin typeface="+mj-lt"/>
              <a:ea typeface="宋体" panose="02010600030101010101" pitchFamily="2" charset="-122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695325" y="6308875"/>
            <a:ext cx="10738168" cy="0"/>
          </a:xfrm>
          <a:prstGeom prst="line">
            <a:avLst/>
          </a:prstGeom>
          <a:ln>
            <a:solidFill>
              <a:srgbClr val="004E9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平行四边形 2"/>
          <p:cNvSpPr/>
          <p:nvPr userDrawn="1"/>
        </p:nvSpPr>
        <p:spPr>
          <a:xfrm>
            <a:off x="963386" y="0"/>
            <a:ext cx="11228097" cy="685800"/>
          </a:xfrm>
          <a:prstGeom prst="parallelogram">
            <a:avLst>
              <a:gd name="adj" fmla="val 44445"/>
            </a:avLst>
          </a:prstGeom>
          <a:solidFill>
            <a:srgbClr val="0F6D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Picture 10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035" y="1"/>
            <a:ext cx="74961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平行四边形 15"/>
          <p:cNvSpPr/>
          <p:nvPr userDrawn="1"/>
        </p:nvSpPr>
        <p:spPr>
          <a:xfrm>
            <a:off x="11501400" y="113732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平行四边形 16"/>
          <p:cNvSpPr/>
          <p:nvPr userDrawn="1"/>
        </p:nvSpPr>
        <p:spPr>
          <a:xfrm>
            <a:off x="11089348" y="316477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935999" y="103450"/>
            <a:ext cx="4320004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492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8579555" y="1397000"/>
            <a:ext cx="3612445" cy="4064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8"/>
            </p:custDataLst>
          </p:nvPr>
        </p:nvSpPr>
        <p:spPr>
          <a:xfrm>
            <a:off x="1163956" y="2644457"/>
            <a:ext cx="5767705" cy="986445"/>
          </a:xfrm>
        </p:spPr>
        <p:txBody>
          <a:bodyPr vert="horz" wrap="square" lIns="91440" tIns="45720" rIns="91440" bIns="45720" anchor="b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4800"/>
              <a:buFont typeface="Arial" panose="020B0604020202020204" pitchFamily="34" charset="0"/>
              <a:buNone/>
              <a:defRPr sz="4800" b="0" spc="5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9"/>
            </p:custDataLst>
          </p:nvPr>
        </p:nvSpPr>
        <p:spPr>
          <a:xfrm>
            <a:off x="1163956" y="3762393"/>
            <a:ext cx="5767705" cy="451152"/>
          </a:xfrm>
        </p:spPr>
        <p:txBody>
          <a:bodyPr vert="horz" wrap="square" lIns="91440" tIns="45720" rIns="91440" bIns="45720" anchor="t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600"/>
              <a:buFont typeface="Arial" panose="020B0604020202020204" pitchFamily="34" charset="0"/>
              <a:buNone/>
              <a:defRPr sz="16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>
            <p:custDataLst>
              <p:tags r:id="rId10"/>
            </p:custDataLst>
          </p:nvPr>
        </p:nvCxnSpPr>
        <p:spPr>
          <a:xfrm>
            <a:off x="1163955" y="3696653"/>
            <a:ext cx="643509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642" y="0"/>
            <a:ext cx="1042358" cy="898726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492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492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304800" y="2194560"/>
            <a:ext cx="4389120" cy="2468880"/>
          </a:xfrm>
          <a:prstGeom prst="rect">
            <a:avLst/>
          </a:prstGeom>
        </p:spPr>
      </p:pic>
      <p:sp>
        <p:nvSpPr>
          <p:cNvPr id="6" name="任意多边形 6"/>
          <p:cNvSpPr/>
          <p:nvPr userDrawn="1">
            <p:custDataLst>
              <p:tags r:id="rId5"/>
            </p:custDataLst>
          </p:nvPr>
        </p:nvSpPr>
        <p:spPr>
          <a:xfrm>
            <a:off x="4878000" y="0"/>
            <a:ext cx="7314000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  <a:alpha val="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492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7" name="图片 6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49257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49257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8"/>
            </p:custDataLst>
          </p:nvPr>
        </p:nvSpPr>
        <p:spPr>
          <a:xfrm>
            <a:off x="2920683" y="3678238"/>
            <a:ext cx="6350000" cy="1103630"/>
          </a:xfrm>
        </p:spPr>
        <p:txBody>
          <a:bodyPr vert="horz" wrap="square" lIns="91440" tIns="45720" rIns="91440" bIns="45720" anchor="t" anchorCtr="0">
            <a:normAutofit/>
          </a:bodyPr>
          <a:lstStyle>
            <a:lvl1pPr marL="0" marR="0" indent="0" algn="ctr" rtl="0" eaLnBrk="1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ts val="1800"/>
              <a:buFont typeface="Arial" panose="020B0604020202020204" pitchFamily="34" charset="0"/>
              <a:buNone/>
              <a:defRPr sz="1800" b="0" spc="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22860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65000"/>
                  <a:lumOff val="35000"/>
                </a:schemeClr>
              </a:buClr>
              <a:buSzPts val="1800"/>
              <a:buFont typeface="Arial" panose="020B0604020202020204" pitchFamily="34" charset="0"/>
              <a:buNone/>
            </a:pPr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9"/>
            </p:custDataLst>
          </p:nvPr>
        </p:nvSpPr>
        <p:spPr>
          <a:xfrm>
            <a:off x="2920683" y="2076133"/>
            <a:ext cx="6350635" cy="1398905"/>
          </a:xfrm>
        </p:spPr>
        <p:txBody>
          <a:bodyPr vert="horz" wrap="square" lIns="91440" tIns="45720" rIns="91440" bIns="45720" anchor="b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8000" b="0" spc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2"/>
            </p:custDataLst>
          </p:nvPr>
        </p:nvPicPr>
        <p:blipFill>
          <a:blip r:embed="rId3" r:link="rId4" cstate="email"/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5"/>
            </p:custDataLst>
          </p:nvPr>
        </p:nvPicPr>
        <p:blipFill>
          <a:blip r:embed="rId6" r:link="rId7" cstate="email"/>
          <a:stretch>
            <a:fillRect/>
          </a:stretch>
        </p:blipFill>
        <p:spPr>
          <a:xfrm>
            <a:off x="11471910" y="0"/>
            <a:ext cx="720090" cy="492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11471910" y="0"/>
            <a:ext cx="720090" cy="492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11471910" y="0"/>
            <a:ext cx="720090" cy="682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11471910" y="0"/>
            <a:ext cx="720090" cy="492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0" y="0"/>
            <a:ext cx="720090" cy="682332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11471910" y="0"/>
            <a:ext cx="720090" cy="492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11471910" y="6175668"/>
            <a:ext cx="720090" cy="682332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0" y="6365430"/>
            <a:ext cx="720090" cy="4925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3"/>
            </p:custDataLst>
          </p:nvPr>
        </p:nvPicPr>
        <p:blipFill>
          <a:blip r:embed="rId4" r:link="rId5" cstate="email"/>
          <a:stretch>
            <a:fillRect/>
          </a:stretch>
        </p:blipFill>
        <p:spPr>
          <a:xfrm>
            <a:off x="10571797" y="5322752"/>
            <a:ext cx="1620202" cy="1535248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6"/>
            </p:custDataLst>
          </p:nvPr>
        </p:nvPicPr>
        <p:blipFill>
          <a:blip r:embed="rId7" r:link="rId8" cstate="email"/>
          <a:stretch>
            <a:fillRect/>
          </a:stretch>
        </p:blipFill>
        <p:spPr>
          <a:xfrm>
            <a:off x="0" y="5749718"/>
            <a:ext cx="1620202" cy="110828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校徽空白"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2A7A-06EE-4B90-8FCA-EA7A5ACFD9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FAA2C-C792-4D70-A6EA-D55D7E85EC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8" Type="http://schemas.openxmlformats.org/officeDocument/2006/relationships/theme" Target="../theme/theme1.xml"/><Relationship Id="rId27" Type="http://schemas.openxmlformats.org/officeDocument/2006/relationships/tags" Target="../tags/tag143.xml"/><Relationship Id="rId26" Type="http://schemas.openxmlformats.org/officeDocument/2006/relationships/tags" Target="../tags/tag142.xml"/><Relationship Id="rId25" Type="http://schemas.openxmlformats.org/officeDocument/2006/relationships/tags" Target="../tags/tag141.xml"/><Relationship Id="rId24" Type="http://schemas.openxmlformats.org/officeDocument/2006/relationships/tags" Target="../tags/tag140.xml"/><Relationship Id="rId23" Type="http://schemas.openxmlformats.org/officeDocument/2006/relationships/tags" Target="../tags/tag139.xml"/><Relationship Id="rId22" Type="http://schemas.openxmlformats.org/officeDocument/2006/relationships/tags" Target="../tags/tag138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6"/>
            </p:custDataLst>
          </p:nvPr>
        </p:nvSpPr>
        <p:spPr>
          <a:xfrm>
            <a:off x="8822055" y="44306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r>
              <a:rPr lang="en-US" altLang="zh-CN" dirty="0"/>
              <a:t>/19</a:t>
            </a:r>
            <a:endParaRPr lang="en-US" altLang="zh-CN" dirty="0"/>
          </a:p>
        </p:txBody>
      </p:sp>
      <p:sp>
        <p:nvSpPr>
          <p:cNvPr id="7" name="KSO_TEMPLATE" hidden="1"/>
          <p:cNvSpPr/>
          <p:nvPr userDrawn="1">
            <p:custDataLst>
              <p:tags r:id="rId2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" Type="http://schemas.openxmlformats.org/officeDocument/2006/relationships/tags" Target="../tags/tag148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5" Type="http://schemas.openxmlformats.org/officeDocument/2006/relationships/notesSlide" Target="../notesSlides/notesSlide2.xml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165.xml"/><Relationship Id="rId22" Type="http://schemas.openxmlformats.org/officeDocument/2006/relationships/tags" Target="../tags/tag164.xml"/><Relationship Id="rId21" Type="http://schemas.openxmlformats.org/officeDocument/2006/relationships/tags" Target="../tags/tag163.xml"/><Relationship Id="rId20" Type="http://schemas.openxmlformats.org/officeDocument/2006/relationships/tags" Target="../tags/tag162.xml"/><Relationship Id="rId2" Type="http://schemas.openxmlformats.org/officeDocument/2006/relationships/tags" Target="../tags/tag145.xml"/><Relationship Id="rId19" Type="http://schemas.openxmlformats.org/officeDocument/2006/relationships/tags" Target="../tags/tag161.xml"/><Relationship Id="rId18" Type="http://schemas.openxmlformats.org/officeDocument/2006/relationships/tags" Target="../tags/tag160.xml"/><Relationship Id="rId17" Type="http://schemas.openxmlformats.org/officeDocument/2006/relationships/image" Target="../media/image6.png"/><Relationship Id="rId16" Type="http://schemas.openxmlformats.org/officeDocument/2006/relationships/tags" Target="../tags/tag159.xml"/><Relationship Id="rId15" Type="http://schemas.openxmlformats.org/officeDocument/2006/relationships/tags" Target="../tags/tag158.xml"/><Relationship Id="rId14" Type="http://schemas.openxmlformats.org/officeDocument/2006/relationships/tags" Target="../tags/tag157.xml"/><Relationship Id="rId13" Type="http://schemas.openxmlformats.org/officeDocument/2006/relationships/tags" Target="../tags/tag156.xml"/><Relationship Id="rId12" Type="http://schemas.openxmlformats.org/officeDocument/2006/relationships/tags" Target="../tags/tag155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tags" Target="../tags/tag14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2.xml"/><Relationship Id="rId24" Type="http://schemas.openxmlformats.org/officeDocument/2006/relationships/image" Target="../media/image19.png"/><Relationship Id="rId23" Type="http://schemas.openxmlformats.org/officeDocument/2006/relationships/image" Target="../media/image18.png"/><Relationship Id="rId22" Type="http://schemas.openxmlformats.org/officeDocument/2006/relationships/image" Target="../media/image17.png"/><Relationship Id="rId21" Type="http://schemas.openxmlformats.org/officeDocument/2006/relationships/image" Target="../media/image16.svg"/><Relationship Id="rId20" Type="http://schemas.openxmlformats.org/officeDocument/2006/relationships/image" Target="../media/image15.png"/><Relationship Id="rId2" Type="http://schemas.openxmlformats.org/officeDocument/2006/relationships/tags" Target="../tags/tag167.xml"/><Relationship Id="rId19" Type="http://schemas.openxmlformats.org/officeDocument/2006/relationships/tags" Target="../tags/tag180.xml"/><Relationship Id="rId18" Type="http://schemas.openxmlformats.org/officeDocument/2006/relationships/image" Target="../media/image14.svg"/><Relationship Id="rId17" Type="http://schemas.openxmlformats.org/officeDocument/2006/relationships/image" Target="../media/image13.png"/><Relationship Id="rId16" Type="http://schemas.openxmlformats.org/officeDocument/2006/relationships/tags" Target="../tags/tag179.xml"/><Relationship Id="rId15" Type="http://schemas.openxmlformats.org/officeDocument/2006/relationships/image" Target="../media/image12.svg"/><Relationship Id="rId14" Type="http://schemas.openxmlformats.org/officeDocument/2006/relationships/image" Target="../media/image11.png"/><Relationship Id="rId13" Type="http://schemas.openxmlformats.org/officeDocument/2006/relationships/tags" Target="../tags/tag178.xml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tags" Target="../tags/tag16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tags" Target="../tags/tag188.xml"/><Relationship Id="rId7" Type="http://schemas.openxmlformats.org/officeDocument/2006/relationships/tags" Target="../tags/tag187.x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3.svg"/><Relationship Id="rId11" Type="http://schemas.openxmlformats.org/officeDocument/2006/relationships/image" Target="../media/image22.png"/><Relationship Id="rId10" Type="http://schemas.openxmlformats.org/officeDocument/2006/relationships/image" Target="../media/image21.svg"/><Relationship Id="rId1" Type="http://schemas.openxmlformats.org/officeDocument/2006/relationships/tags" Target="../tags/tag18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97.xml"/><Relationship Id="rId8" Type="http://schemas.openxmlformats.org/officeDocument/2006/relationships/tags" Target="../tags/tag196.xml"/><Relationship Id="rId7" Type="http://schemas.openxmlformats.org/officeDocument/2006/relationships/tags" Target="../tags/tag195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8" Type="http://schemas.openxmlformats.org/officeDocument/2006/relationships/notesSlide" Target="../notesSlides/notesSlide11.xml"/><Relationship Id="rId37" Type="http://schemas.openxmlformats.org/officeDocument/2006/relationships/slideLayout" Target="../slideLayouts/slideLayout2.xml"/><Relationship Id="rId36" Type="http://schemas.openxmlformats.org/officeDocument/2006/relationships/image" Target="../media/image32.svg"/><Relationship Id="rId35" Type="http://schemas.openxmlformats.org/officeDocument/2006/relationships/image" Target="../media/image31.png"/><Relationship Id="rId34" Type="http://schemas.openxmlformats.org/officeDocument/2006/relationships/tags" Target="../tags/tag216.xml"/><Relationship Id="rId33" Type="http://schemas.openxmlformats.org/officeDocument/2006/relationships/image" Target="../media/image30.svg"/><Relationship Id="rId32" Type="http://schemas.openxmlformats.org/officeDocument/2006/relationships/image" Target="../media/image29.png"/><Relationship Id="rId31" Type="http://schemas.openxmlformats.org/officeDocument/2006/relationships/tags" Target="../tags/tag215.xml"/><Relationship Id="rId30" Type="http://schemas.openxmlformats.org/officeDocument/2006/relationships/image" Target="../media/image28.svg"/><Relationship Id="rId3" Type="http://schemas.openxmlformats.org/officeDocument/2006/relationships/tags" Target="../tags/tag191.xml"/><Relationship Id="rId29" Type="http://schemas.openxmlformats.org/officeDocument/2006/relationships/image" Target="../media/image27.png"/><Relationship Id="rId28" Type="http://schemas.openxmlformats.org/officeDocument/2006/relationships/tags" Target="../tags/tag214.xml"/><Relationship Id="rId27" Type="http://schemas.openxmlformats.org/officeDocument/2006/relationships/image" Target="../media/image26.svg"/><Relationship Id="rId26" Type="http://schemas.openxmlformats.org/officeDocument/2006/relationships/image" Target="../media/image25.png"/><Relationship Id="rId25" Type="http://schemas.openxmlformats.org/officeDocument/2006/relationships/tags" Target="../tags/tag213.xml"/><Relationship Id="rId24" Type="http://schemas.openxmlformats.org/officeDocument/2006/relationships/tags" Target="../tags/tag212.xml"/><Relationship Id="rId23" Type="http://schemas.openxmlformats.org/officeDocument/2006/relationships/tags" Target="../tags/tag211.xml"/><Relationship Id="rId22" Type="http://schemas.openxmlformats.org/officeDocument/2006/relationships/tags" Target="../tags/tag210.xml"/><Relationship Id="rId21" Type="http://schemas.openxmlformats.org/officeDocument/2006/relationships/tags" Target="../tags/tag209.xml"/><Relationship Id="rId20" Type="http://schemas.openxmlformats.org/officeDocument/2006/relationships/tags" Target="../tags/tag208.xml"/><Relationship Id="rId2" Type="http://schemas.openxmlformats.org/officeDocument/2006/relationships/tags" Target="../tags/tag190.xml"/><Relationship Id="rId19" Type="http://schemas.openxmlformats.org/officeDocument/2006/relationships/tags" Target="../tags/tag207.xml"/><Relationship Id="rId18" Type="http://schemas.openxmlformats.org/officeDocument/2006/relationships/tags" Target="../tags/tag206.xml"/><Relationship Id="rId17" Type="http://schemas.openxmlformats.org/officeDocument/2006/relationships/tags" Target="../tags/tag205.xml"/><Relationship Id="rId16" Type="http://schemas.openxmlformats.org/officeDocument/2006/relationships/tags" Target="../tags/tag204.xml"/><Relationship Id="rId15" Type="http://schemas.openxmlformats.org/officeDocument/2006/relationships/tags" Target="../tags/tag203.xml"/><Relationship Id="rId14" Type="http://schemas.openxmlformats.org/officeDocument/2006/relationships/tags" Target="../tags/tag202.xml"/><Relationship Id="rId13" Type="http://schemas.openxmlformats.org/officeDocument/2006/relationships/tags" Target="../tags/tag201.xml"/><Relationship Id="rId12" Type="http://schemas.openxmlformats.org/officeDocument/2006/relationships/tags" Target="../tags/tag200.xml"/><Relationship Id="rId11" Type="http://schemas.openxmlformats.org/officeDocument/2006/relationships/tags" Target="../tags/tag199.xml"/><Relationship Id="rId10" Type="http://schemas.openxmlformats.org/officeDocument/2006/relationships/tags" Target="../tags/tag198.xml"/><Relationship Id="rId1" Type="http://schemas.openxmlformats.org/officeDocument/2006/relationships/tags" Target="../tags/tag18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25.xml"/><Relationship Id="rId8" Type="http://schemas.openxmlformats.org/officeDocument/2006/relationships/tags" Target="../tags/tag224.xml"/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1" Type="http://schemas.openxmlformats.org/officeDocument/2006/relationships/notesSlide" Target="../notesSlides/notesSlide12.xml"/><Relationship Id="rId30" Type="http://schemas.openxmlformats.org/officeDocument/2006/relationships/slideLayout" Target="../slideLayouts/slideLayout2.xml"/><Relationship Id="rId3" Type="http://schemas.openxmlformats.org/officeDocument/2006/relationships/tags" Target="../tags/tag219.xml"/><Relationship Id="rId29" Type="http://schemas.openxmlformats.org/officeDocument/2006/relationships/tags" Target="../tags/tag237.xml"/><Relationship Id="rId28" Type="http://schemas.openxmlformats.org/officeDocument/2006/relationships/tags" Target="../tags/tag236.xml"/><Relationship Id="rId27" Type="http://schemas.openxmlformats.org/officeDocument/2006/relationships/image" Target="../media/image40.svg"/><Relationship Id="rId26" Type="http://schemas.openxmlformats.org/officeDocument/2006/relationships/image" Target="../media/image39.png"/><Relationship Id="rId25" Type="http://schemas.openxmlformats.org/officeDocument/2006/relationships/tags" Target="../tags/tag235.xml"/><Relationship Id="rId24" Type="http://schemas.openxmlformats.org/officeDocument/2006/relationships/image" Target="../media/image38.svg"/><Relationship Id="rId23" Type="http://schemas.openxmlformats.org/officeDocument/2006/relationships/image" Target="../media/image37.png"/><Relationship Id="rId22" Type="http://schemas.openxmlformats.org/officeDocument/2006/relationships/tags" Target="../tags/tag234.xml"/><Relationship Id="rId21" Type="http://schemas.openxmlformats.org/officeDocument/2006/relationships/image" Target="../media/image36.svg"/><Relationship Id="rId20" Type="http://schemas.openxmlformats.org/officeDocument/2006/relationships/image" Target="../media/image35.png"/><Relationship Id="rId2" Type="http://schemas.openxmlformats.org/officeDocument/2006/relationships/tags" Target="../tags/tag218.xml"/><Relationship Id="rId19" Type="http://schemas.openxmlformats.org/officeDocument/2006/relationships/tags" Target="../tags/tag233.xml"/><Relationship Id="rId18" Type="http://schemas.openxmlformats.org/officeDocument/2006/relationships/tags" Target="../tags/tag232.xml"/><Relationship Id="rId17" Type="http://schemas.openxmlformats.org/officeDocument/2006/relationships/image" Target="../media/image34.svg"/><Relationship Id="rId16" Type="http://schemas.openxmlformats.org/officeDocument/2006/relationships/image" Target="../media/image33.png"/><Relationship Id="rId15" Type="http://schemas.openxmlformats.org/officeDocument/2006/relationships/tags" Target="../tags/tag231.xml"/><Relationship Id="rId14" Type="http://schemas.openxmlformats.org/officeDocument/2006/relationships/tags" Target="../tags/tag230.xml"/><Relationship Id="rId13" Type="http://schemas.openxmlformats.org/officeDocument/2006/relationships/tags" Target="../tags/tag229.xml"/><Relationship Id="rId12" Type="http://schemas.openxmlformats.org/officeDocument/2006/relationships/tags" Target="../tags/tag228.xml"/><Relationship Id="rId11" Type="http://schemas.openxmlformats.org/officeDocument/2006/relationships/tags" Target="../tags/tag227.xml"/><Relationship Id="rId10" Type="http://schemas.openxmlformats.org/officeDocument/2006/relationships/tags" Target="../tags/tag226.xml"/><Relationship Id="rId1" Type="http://schemas.openxmlformats.org/officeDocument/2006/relationships/tags" Target="../tags/tag2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4" Type="http://schemas.openxmlformats.org/officeDocument/2006/relationships/notesSlide" Target="../notesSlides/notesSlide14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249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tags" Target="../tags/tag23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-3393"/>
            <a:ext cx="12192000" cy="5630286"/>
          </a:xfrm>
          <a:prstGeom prst="rect">
            <a:avLst/>
          </a:prstGeom>
          <a:solidFill>
            <a:schemeClr val="bg1">
              <a:lumMod val="95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30070" y="1772285"/>
            <a:ext cx="8656320" cy="1422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b="1" dirty="0">
                <a:solidFill>
                  <a:srgbClr val="035A80"/>
                </a:solidFill>
                <a:latin typeface="方正大标宋_GBK" panose="03000509000000000000" pitchFamily="65" charset="-122"/>
                <a:ea typeface="方正大标宋_GBK" panose="03000509000000000000" pitchFamily="65" charset="-122"/>
              </a:rPr>
              <a:t>本科毕业论文开题答辩</a:t>
            </a:r>
            <a:endParaRPr lang="en-US" altLang="zh-CN" sz="4400" b="1" dirty="0">
              <a:solidFill>
                <a:srgbClr val="035A80"/>
              </a:solidFill>
              <a:latin typeface="方正大标宋_GBK" panose="03000509000000000000" pitchFamily="65" charset="-122"/>
              <a:ea typeface="方正大标宋_GBK" panose="03000509000000000000" pitchFamily="65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35A8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35A8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</a:rPr>
              <a:t>题目：基于多模态大模型的语音导览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35A80"/>
                </a:solidFill>
                <a:effectLst/>
                <a:uLnTx/>
                <a:uFillTx/>
                <a:latin typeface="黑体" panose="02010609060101010101" charset="-122"/>
                <a:ea typeface="黑体" panose="02010609060101010101" charset="-122"/>
              </a:rPr>
              <a:t>助手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35A8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5630286"/>
            <a:ext cx="12192000" cy="1227713"/>
          </a:xfrm>
          <a:prstGeom prst="rect">
            <a:avLst/>
          </a:prstGeom>
          <a:solidFill>
            <a:srgbClr val="035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86093" y="6100176"/>
            <a:ext cx="304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规格严格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|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功夫到家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268948" y="3925335"/>
            <a:ext cx="3682290" cy="809099"/>
            <a:chOff x="3285725" y="4370615"/>
            <a:chExt cx="1826014" cy="927778"/>
          </a:xfrm>
        </p:grpSpPr>
        <p:sp>
          <p:nvSpPr>
            <p:cNvPr id="14" name="矩形 13"/>
            <p:cNvSpPr/>
            <p:nvPr/>
          </p:nvSpPr>
          <p:spPr>
            <a:xfrm>
              <a:off x="3285725" y="4370615"/>
              <a:ext cx="1826014" cy="927778"/>
            </a:xfrm>
            <a:prstGeom prst="rect">
              <a:avLst/>
            </a:prstGeom>
            <a:solidFill>
              <a:srgbClr val="035A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大标宋_GBK" panose="03000509000000000000" pitchFamily="65" charset="-122"/>
                <a:ea typeface="方正大标宋_GBK" panose="03000509000000000000" pitchFamily="65" charset="-122"/>
                <a:cs typeface="+mn-cs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362494" y="4471574"/>
              <a:ext cx="1675224" cy="669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汇报人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：李炜臻</a:t>
              </a:r>
              <a:endParaRPr lang="en-US" altLang="zh-CN" sz="16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日期：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2025.10.22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852058" y="5628024"/>
            <a:ext cx="6487884" cy="148518"/>
            <a:chOff x="2950029" y="5627954"/>
            <a:chExt cx="6487884" cy="148518"/>
          </a:xfrm>
        </p:grpSpPr>
        <p:sp>
          <p:nvSpPr>
            <p:cNvPr id="18" name="矩形 17"/>
            <p:cNvSpPr/>
            <p:nvPr/>
          </p:nvSpPr>
          <p:spPr>
            <a:xfrm>
              <a:off x="2950029" y="5627955"/>
              <a:ext cx="1621971" cy="14851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572000" y="5627954"/>
              <a:ext cx="1621971" cy="14851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6193971" y="5627957"/>
              <a:ext cx="1621971" cy="14851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7815942" y="5627956"/>
              <a:ext cx="1621971" cy="14851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pic>
        <p:nvPicPr>
          <p:cNvPr id="1026" name="Picture 2" descr="logo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974" y="632539"/>
            <a:ext cx="4944239" cy="88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>
            <p:custDataLst>
              <p:tags r:id="rId1"/>
            </p:custDataLst>
          </p:nvPr>
        </p:nvSpPr>
        <p:spPr bwMode="auto">
          <a:xfrm>
            <a:off x="4333875" y="1438275"/>
            <a:ext cx="7210800" cy="768350"/>
          </a:xfrm>
          <a:prstGeom prst="roundRect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</a:ln>
        </p:spPr>
        <p:txBody>
          <a:bodyPr rot="0" spcFirstLastPara="0" vert="horz" wrap="square" lIns="91440" tIns="45720" rIns="91440" bIns="45720" anchor="ctr" anchorCtr="0" forceAA="0" compatLnSpc="1">
            <a:normAutofit/>
          </a:bodyPr>
          <a:lstStyle/>
          <a:p>
            <a:pPr algn="r">
              <a:lnSpc>
                <a:spcPct val="130000"/>
              </a:lnSpc>
            </a:pPr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" name="梯形 5"/>
          <p:cNvSpPr/>
          <p:nvPr>
            <p:custDataLst>
              <p:tags r:id="rId2"/>
            </p:custDataLst>
          </p:nvPr>
        </p:nvSpPr>
        <p:spPr bwMode="auto">
          <a:xfrm flipV="1">
            <a:off x="4689276" y="2205566"/>
            <a:ext cx="1438782" cy="76049"/>
          </a:xfrm>
          <a:prstGeom prst="trapezoid">
            <a:avLst>
              <a:gd name="adj" fmla="val 154634"/>
            </a:avLst>
          </a:prstGeom>
          <a:solidFill>
            <a:schemeClr val="bg1">
              <a:lumMod val="6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梯形 6"/>
          <p:cNvSpPr/>
          <p:nvPr>
            <p:custDataLst>
              <p:tags r:id="rId3"/>
            </p:custDataLst>
          </p:nvPr>
        </p:nvSpPr>
        <p:spPr bwMode="auto">
          <a:xfrm>
            <a:off x="4695034" y="1362387"/>
            <a:ext cx="1438782" cy="76049"/>
          </a:xfrm>
          <a:prstGeom prst="trapezoid">
            <a:avLst>
              <a:gd name="adj" fmla="val 154634"/>
            </a:avLst>
          </a:prstGeom>
          <a:solidFill>
            <a:schemeClr val="bg1">
              <a:lumMod val="6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 bwMode="auto">
          <a:xfrm>
            <a:off x="4899536" y="1358583"/>
            <a:ext cx="1027701" cy="92493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round/>
          </a:ln>
        </p:spPr>
        <p:txBody>
          <a:bodyPr rot="0" spcFirstLastPara="0" vert="horz" wrap="square" lIns="91440" tIns="45720" rIns="91440" bIns="4572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一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6132829" y="1443990"/>
            <a:ext cx="5411471" cy="772795"/>
          </a:xfrm>
          <a:prstGeom prst="rect">
            <a:avLst/>
          </a:prstGeom>
          <a:noFill/>
        </p:spPr>
        <p:txBody>
          <a:bodyPr wrap="square" rtlCol="0" anchor="ctr" anchorCtr="0">
            <a:normAutofit fontScale="70000"/>
          </a:bodyPr>
          <a:lstStyle/>
          <a:p>
            <a:pPr lvl="0"/>
            <a:r>
              <a:rPr lang="zh-CN" altLang="en-US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课题背景</a:t>
            </a:r>
            <a:r>
              <a:rPr lang="zh-CN" altLang="en-US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及研究目的与意义</a:t>
            </a:r>
            <a:endParaRPr lang="zh-CN" altLang="en-US" sz="4000" b="1" spc="3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圆角矩形 9"/>
          <p:cNvSpPr/>
          <p:nvPr>
            <p:custDataLst>
              <p:tags r:id="rId6"/>
            </p:custDataLst>
          </p:nvPr>
        </p:nvSpPr>
        <p:spPr bwMode="auto">
          <a:xfrm>
            <a:off x="4333875" y="2660917"/>
            <a:ext cx="7210519" cy="768083"/>
          </a:xfrm>
          <a:prstGeom prst="roundRect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</a:ln>
        </p:spPr>
        <p:txBody>
          <a:bodyPr rot="0" spcFirstLastPara="0" vert="horz" wrap="square" lIns="91440" tIns="45720" rIns="91440" bIns="45720" anchor="ctr" anchorCtr="0" forceAA="0" compatLnSpc="1">
            <a:normAutofit/>
          </a:bodyPr>
          <a:lstStyle/>
          <a:p>
            <a:pPr algn="r">
              <a:lnSpc>
                <a:spcPct val="130000"/>
              </a:lnSpc>
            </a:pPr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1" name="梯形 10"/>
          <p:cNvSpPr/>
          <p:nvPr>
            <p:custDataLst>
              <p:tags r:id="rId7"/>
            </p:custDataLst>
          </p:nvPr>
        </p:nvSpPr>
        <p:spPr bwMode="auto">
          <a:xfrm flipV="1">
            <a:off x="4694091" y="3428047"/>
            <a:ext cx="1438782" cy="76049"/>
          </a:xfrm>
          <a:prstGeom prst="trapezoid">
            <a:avLst>
              <a:gd name="adj" fmla="val 154634"/>
            </a:avLst>
          </a:prstGeom>
          <a:solidFill>
            <a:schemeClr val="bg1">
              <a:lumMod val="6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" name="梯形 11"/>
          <p:cNvSpPr/>
          <p:nvPr>
            <p:custDataLst>
              <p:tags r:id="rId8"/>
            </p:custDataLst>
          </p:nvPr>
        </p:nvSpPr>
        <p:spPr bwMode="auto">
          <a:xfrm>
            <a:off x="4695128" y="2584868"/>
            <a:ext cx="1438782" cy="76049"/>
          </a:xfrm>
          <a:prstGeom prst="trapezoid">
            <a:avLst>
              <a:gd name="adj" fmla="val 154634"/>
            </a:avLst>
          </a:prstGeom>
          <a:solidFill>
            <a:schemeClr val="bg1">
              <a:lumMod val="6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 bwMode="auto">
          <a:xfrm>
            <a:off x="4899630" y="2581064"/>
            <a:ext cx="1027701" cy="92493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round/>
          </a:ln>
        </p:spPr>
        <p:txBody>
          <a:bodyPr rot="0" spcFirstLastPara="0" vert="horz" wrap="square" lIns="91440" tIns="45720" rIns="91440" bIns="4572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6151558" y="2667447"/>
            <a:ext cx="5256848" cy="77287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/>
            <a:r>
              <a:rPr lang="zh-CN" altLang="en-US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研究现状及分析</a:t>
            </a:r>
            <a:endParaRPr lang="zh-CN" altLang="en-US" sz="4000" b="1" spc="3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 bwMode="auto">
          <a:xfrm>
            <a:off x="4315146" y="3814482"/>
            <a:ext cx="7210519" cy="768083"/>
          </a:xfrm>
          <a:prstGeom prst="roundRect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</a:ln>
        </p:spPr>
        <p:txBody>
          <a:bodyPr rot="0" spcFirstLastPara="0" vert="horz" wrap="square" lIns="91440" tIns="45720" rIns="91440" bIns="45720" anchor="ctr" anchorCtr="0" forceAA="0" compatLnSpc="1">
            <a:normAutofit/>
          </a:bodyPr>
          <a:lstStyle/>
          <a:p>
            <a:pPr algn="r">
              <a:lnSpc>
                <a:spcPct val="130000"/>
              </a:lnSpc>
            </a:pPr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6" name="梯形 15"/>
          <p:cNvSpPr/>
          <p:nvPr>
            <p:custDataLst>
              <p:tags r:id="rId12"/>
            </p:custDataLst>
          </p:nvPr>
        </p:nvSpPr>
        <p:spPr bwMode="auto">
          <a:xfrm flipV="1">
            <a:off x="4675362" y="4581612"/>
            <a:ext cx="1438782" cy="76049"/>
          </a:xfrm>
          <a:prstGeom prst="trapezoid">
            <a:avLst>
              <a:gd name="adj" fmla="val 154634"/>
            </a:avLst>
          </a:prstGeom>
          <a:solidFill>
            <a:schemeClr val="bg1">
              <a:lumMod val="6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梯形 16"/>
          <p:cNvSpPr/>
          <p:nvPr>
            <p:custDataLst>
              <p:tags r:id="rId13"/>
            </p:custDataLst>
          </p:nvPr>
        </p:nvSpPr>
        <p:spPr bwMode="auto">
          <a:xfrm>
            <a:off x="4701504" y="3812280"/>
            <a:ext cx="1438782" cy="76049"/>
          </a:xfrm>
          <a:prstGeom prst="trapezoid">
            <a:avLst>
              <a:gd name="adj" fmla="val 154634"/>
            </a:avLst>
          </a:prstGeom>
          <a:solidFill>
            <a:schemeClr val="bg1">
              <a:lumMod val="6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>
            <p:custDataLst>
              <p:tags r:id="rId14"/>
            </p:custDataLst>
          </p:nvPr>
        </p:nvSpPr>
        <p:spPr bwMode="auto">
          <a:xfrm>
            <a:off x="4880901" y="3734632"/>
            <a:ext cx="1027701" cy="92493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round/>
          </a:ln>
        </p:spPr>
        <p:txBody>
          <a:bodyPr rot="0" spcFirstLastPara="0" vert="horz" wrap="square" lIns="91440" tIns="45720" rIns="91440" bIns="4572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三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>
          <a:xfrm>
            <a:off x="6132829" y="3821012"/>
            <a:ext cx="5256848" cy="77287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/>
            <a:r>
              <a:rPr lang="zh-CN" altLang="en-US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研究内容及研究方案</a:t>
            </a:r>
            <a:endParaRPr lang="zh-CN" altLang="en-US" sz="4000" b="1" spc="3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16"/>
            </p:custDataLst>
          </p:nvPr>
        </p:nvSpPr>
        <p:spPr>
          <a:xfrm>
            <a:off x="6912001" y="519430"/>
            <a:ext cx="2166620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Autofit/>
          </a:bodyPr>
          <a:lstStyle/>
          <a:p>
            <a:pPr algn="dist"/>
            <a:r>
              <a:rPr lang="zh-CN" altLang="en-US" sz="4800" b="1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4800" b="1" spc="60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642" y="0"/>
            <a:ext cx="1042358" cy="898726"/>
          </a:xfrm>
          <a:prstGeom prst="rect">
            <a:avLst/>
          </a:prstGeom>
        </p:spPr>
      </p:pic>
      <p:sp>
        <p:nvSpPr>
          <p:cNvPr id="4" name="圆角矩形 14"/>
          <p:cNvSpPr/>
          <p:nvPr>
            <p:custDataLst>
              <p:tags r:id="rId18"/>
            </p:custDataLst>
          </p:nvPr>
        </p:nvSpPr>
        <p:spPr bwMode="auto">
          <a:xfrm>
            <a:off x="4315146" y="5058468"/>
            <a:ext cx="7210519" cy="768083"/>
          </a:xfrm>
          <a:prstGeom prst="roundRect">
            <a:avLst/>
          </a:prstGeom>
          <a:noFill/>
          <a:ln w="9525">
            <a:solidFill>
              <a:schemeClr val="bg1">
                <a:lumMod val="75000"/>
              </a:schemeClr>
            </a:solidFill>
            <a:round/>
          </a:ln>
        </p:spPr>
        <p:txBody>
          <a:bodyPr rot="0" spcFirstLastPara="0" vert="horz" wrap="square" lIns="91440" tIns="45720" rIns="91440" bIns="45720" anchor="ctr" anchorCtr="0" forceAA="0" compatLnSpc="1">
            <a:normAutofit/>
          </a:bodyPr>
          <a:lstStyle/>
          <a:p>
            <a:pPr algn="r">
              <a:lnSpc>
                <a:spcPct val="130000"/>
              </a:lnSpc>
            </a:pPr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梯形 4"/>
          <p:cNvSpPr/>
          <p:nvPr>
            <p:custDataLst>
              <p:tags r:id="rId19"/>
            </p:custDataLst>
          </p:nvPr>
        </p:nvSpPr>
        <p:spPr bwMode="auto">
          <a:xfrm flipV="1">
            <a:off x="4675362" y="5825598"/>
            <a:ext cx="1438782" cy="76049"/>
          </a:xfrm>
          <a:prstGeom prst="trapezoid">
            <a:avLst>
              <a:gd name="adj" fmla="val 154634"/>
            </a:avLst>
          </a:prstGeom>
          <a:solidFill>
            <a:schemeClr val="bg1">
              <a:lumMod val="6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0" name="梯形 19"/>
          <p:cNvSpPr/>
          <p:nvPr>
            <p:custDataLst>
              <p:tags r:id="rId20"/>
            </p:custDataLst>
          </p:nvPr>
        </p:nvSpPr>
        <p:spPr bwMode="auto">
          <a:xfrm>
            <a:off x="4676399" y="4982419"/>
            <a:ext cx="1438782" cy="76049"/>
          </a:xfrm>
          <a:prstGeom prst="trapezoid">
            <a:avLst>
              <a:gd name="adj" fmla="val 154634"/>
            </a:avLst>
          </a:prstGeom>
          <a:solidFill>
            <a:schemeClr val="bg1">
              <a:lumMod val="65000"/>
            </a:schemeClr>
          </a:solidFill>
          <a:ln w="19050">
            <a:noFill/>
            <a:round/>
          </a:ln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  <a:endParaRPr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>
            <p:custDataLst>
              <p:tags r:id="rId21"/>
            </p:custDataLst>
          </p:nvPr>
        </p:nvSpPr>
        <p:spPr bwMode="auto">
          <a:xfrm>
            <a:off x="4880901" y="4978618"/>
            <a:ext cx="1027701" cy="92493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round/>
          </a:ln>
        </p:spPr>
        <p:txBody>
          <a:bodyPr rot="0" spcFirstLastPara="0" vert="horz" wrap="square" lIns="91440" tIns="45720" rIns="91440" bIns="4572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四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6132829" y="5064998"/>
            <a:ext cx="5256848" cy="772871"/>
          </a:xfrm>
          <a:prstGeom prst="rect">
            <a:avLst/>
          </a:prstGeom>
          <a:noFill/>
        </p:spPr>
        <p:txBody>
          <a:bodyPr wrap="square" rtlCol="0" anchor="ctr" anchorCtr="0">
            <a:normAutofit fontScale="85000" lnSpcReduction="10000"/>
          </a:bodyPr>
          <a:lstStyle/>
          <a:p>
            <a:pPr lvl="0"/>
            <a:r>
              <a:rPr lang="zh-CN" altLang="en-US" sz="4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其他情况（进度安排等）</a:t>
            </a:r>
            <a:endParaRPr lang="zh-CN" altLang="en-US" sz="4000" b="1" spc="3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3312000" y="2348865"/>
            <a:ext cx="897890" cy="89789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3312000" y="2679700"/>
            <a:ext cx="1557655" cy="15576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1000"/>
                </a:schemeClr>
              </a:gs>
              <a:gs pos="51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3708000" y="2783886"/>
            <a:ext cx="6132665" cy="1568450"/>
            <a:chOff x="4043304" y="2072045"/>
            <a:chExt cx="6132665" cy="1568450"/>
          </a:xfrm>
        </p:grpSpPr>
        <p:sp>
          <p:nvSpPr>
            <p:cNvPr id="47" name="文本框 46"/>
            <p:cNvSpPr txBox="1"/>
            <p:nvPr/>
          </p:nvSpPr>
          <p:spPr>
            <a:xfrm>
              <a:off x="5627304" y="2072045"/>
              <a:ext cx="4548665" cy="1568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dirty="0">
                  <a:solidFill>
                    <a:srgbClr val="004E98"/>
                  </a:solidFill>
                  <a:uFillTx/>
                  <a:latin typeface="微软雅黑" panose="020B0503020204020204" charset="-122"/>
                  <a:ea typeface="微软雅黑" panose="020B0503020204020204" charset="-122"/>
                </a:rPr>
                <a:t>课题背景及研究目的与意义</a:t>
              </a:r>
              <a:endParaRPr lang="zh-CN" altLang="en-US" sz="4800" b="1" dirty="0">
                <a:solidFill>
                  <a:srgbClr val="004E98"/>
                </a:solidFill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043304" y="2327815"/>
              <a:ext cx="171955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dirty="0">
                  <a:solidFill>
                    <a:srgbClr val="004E98"/>
                  </a:solidFill>
                  <a:latin typeface="微软雅黑" panose="020B0503020204020204" charset="-122"/>
                  <a:ea typeface="微软雅黑" panose="020B0503020204020204" charset="-122"/>
                </a:rPr>
                <a:t>一</a:t>
              </a:r>
              <a:endParaRPr lang="zh-CN" altLang="en-US" sz="4800" b="1" dirty="0">
                <a:solidFill>
                  <a:srgbClr val="004E9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51" name="直接连接符 50"/>
            <p:cNvCxnSpPr/>
            <p:nvPr/>
          </p:nvCxnSpPr>
          <p:spPr>
            <a:xfrm>
              <a:off x="5231751" y="2241962"/>
              <a:ext cx="0" cy="1008256"/>
            </a:xfrm>
            <a:prstGeom prst="line">
              <a:avLst/>
            </a:prstGeom>
            <a:ln w="19050">
              <a:solidFill>
                <a:srgbClr val="004E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642" y="0"/>
            <a:ext cx="1042358" cy="898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 descr="7b0a202020202274657874626f78223a20227b5c2269645c223a32303334383534322c5c227469645c223a5c225c227d220a7d0a"/>
          <p:cNvGrpSpPr/>
          <p:nvPr/>
        </p:nvGrpSpPr>
        <p:grpSpPr>
          <a:xfrm>
            <a:off x="558800" y="1227455"/>
            <a:ext cx="5400040" cy="2700021"/>
            <a:chOff x="2675255" y="2019701"/>
            <a:chExt cx="6057900" cy="3028951"/>
          </a:xfrm>
        </p:grpSpPr>
        <p:grpSp>
          <p:nvGrpSpPr>
            <p:cNvPr id="35" name="组合 34"/>
            <p:cNvGrpSpPr/>
            <p:nvPr/>
          </p:nvGrpSpPr>
          <p:grpSpPr>
            <a:xfrm>
              <a:off x="2675255" y="2019701"/>
              <a:ext cx="6057900" cy="3028951"/>
              <a:chOff x="2675255" y="2019701"/>
              <a:chExt cx="6057900" cy="3028951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2675255" y="2019701"/>
                <a:ext cx="6057900" cy="3028951"/>
                <a:chOff x="2675255" y="2019701"/>
                <a:chExt cx="6057900" cy="3028951"/>
              </a:xfrm>
            </p:grpSpPr>
            <p:grpSp>
              <p:nvGrpSpPr>
                <p:cNvPr id="37" name="图形 1"/>
                <p:cNvGrpSpPr/>
                <p:nvPr/>
              </p:nvGrpSpPr>
              <p:grpSpPr>
                <a:xfrm>
                  <a:off x="2797809" y="2129770"/>
                  <a:ext cx="5935346" cy="2918882"/>
                  <a:chOff x="0" y="0"/>
                  <a:chExt cx="5274310" cy="2581910"/>
                </a:xfrm>
              </p:grpSpPr>
              <p:sp>
                <p:nvSpPr>
                  <p:cNvPr id="38" name="任意多边形: 形状 15"/>
                  <p:cNvSpPr/>
                  <p:nvPr/>
                </p:nvSpPr>
                <p:spPr>
                  <a:xfrm>
                    <a:off x="0" y="0"/>
                    <a:ext cx="5274310" cy="2581910"/>
                  </a:xfrm>
                  <a:custGeom>
                    <a:avLst/>
                    <a:gdLst>
                      <a:gd name="connsiteX0" fmla="*/ 0 w 5274310"/>
                      <a:gd name="connsiteY0" fmla="*/ 0 h 2581910"/>
                      <a:gd name="connsiteX1" fmla="*/ 5274310 w 5274310"/>
                      <a:gd name="connsiteY1" fmla="*/ 0 h 2581910"/>
                      <a:gd name="connsiteX2" fmla="*/ 5274310 w 5274310"/>
                      <a:gd name="connsiteY2" fmla="*/ 2581910 h 2581910"/>
                      <a:gd name="connsiteX3" fmla="*/ 0 w 5274310"/>
                      <a:gd name="connsiteY3" fmla="*/ 2581910 h 2581910"/>
                      <a:gd name="connsiteX4" fmla="*/ 0 w 5274310"/>
                      <a:gd name="connsiteY4" fmla="*/ 0 h 25819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274310" h="2581910">
                        <a:moveTo>
                          <a:pt x="0" y="0"/>
                        </a:moveTo>
                        <a:lnTo>
                          <a:pt x="5274310" y="0"/>
                        </a:lnTo>
                        <a:lnTo>
                          <a:pt x="5274310" y="2581910"/>
                        </a:lnTo>
                        <a:lnTo>
                          <a:pt x="0" y="258191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D9F2F9"/>
                  </a:solidFill>
                  <a:ln w="8455" cap="flat">
                    <a:noFill/>
                    <a:prstDash val="solid"/>
                    <a:miter/>
                  </a:ln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" name="任意多边形: 形状 16"/>
                  <p:cNvSpPr/>
                  <p:nvPr/>
                </p:nvSpPr>
                <p:spPr>
                  <a:xfrm>
                    <a:off x="0" y="0"/>
                    <a:ext cx="5274310" cy="2581910"/>
                  </a:xfrm>
                  <a:custGeom>
                    <a:avLst/>
                    <a:gdLst>
                      <a:gd name="connsiteX0" fmla="*/ 0 w 5274310"/>
                      <a:gd name="connsiteY0" fmla="*/ 0 h 2581910"/>
                      <a:gd name="connsiteX1" fmla="*/ 5274310 w 5274310"/>
                      <a:gd name="connsiteY1" fmla="*/ 0 h 2581910"/>
                      <a:gd name="connsiteX2" fmla="*/ 5274310 w 5274310"/>
                      <a:gd name="connsiteY2" fmla="*/ 2581910 h 2581910"/>
                      <a:gd name="connsiteX3" fmla="*/ 0 w 5274310"/>
                      <a:gd name="connsiteY3" fmla="*/ 2581910 h 2581910"/>
                      <a:gd name="connsiteX4" fmla="*/ 0 w 5274310"/>
                      <a:gd name="connsiteY4" fmla="*/ 0 h 2581910"/>
                      <a:gd name="connsiteX5" fmla="*/ 16932 w 5274310"/>
                      <a:gd name="connsiteY5" fmla="*/ 16931 h 2581910"/>
                      <a:gd name="connsiteX6" fmla="*/ 16932 w 5274310"/>
                      <a:gd name="connsiteY6" fmla="*/ 2564980 h 2581910"/>
                      <a:gd name="connsiteX7" fmla="*/ 5257378 w 5274310"/>
                      <a:gd name="connsiteY7" fmla="*/ 2564980 h 2581910"/>
                      <a:gd name="connsiteX8" fmla="*/ 5257378 w 5274310"/>
                      <a:gd name="connsiteY8" fmla="*/ 16931 h 2581910"/>
                      <a:gd name="connsiteX9" fmla="*/ 16932 w 5274310"/>
                      <a:gd name="connsiteY9" fmla="*/ 16931 h 25819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5274310" h="2581910">
                        <a:moveTo>
                          <a:pt x="0" y="0"/>
                        </a:moveTo>
                        <a:lnTo>
                          <a:pt x="5274310" y="0"/>
                        </a:lnTo>
                        <a:lnTo>
                          <a:pt x="5274310" y="2581910"/>
                        </a:lnTo>
                        <a:lnTo>
                          <a:pt x="0" y="2581910"/>
                        </a:lnTo>
                        <a:lnTo>
                          <a:pt x="0" y="0"/>
                        </a:lnTo>
                        <a:close/>
                        <a:moveTo>
                          <a:pt x="16932" y="16931"/>
                        </a:moveTo>
                        <a:lnTo>
                          <a:pt x="16932" y="2564980"/>
                        </a:lnTo>
                        <a:lnTo>
                          <a:pt x="5257378" y="2564980"/>
                        </a:lnTo>
                        <a:lnTo>
                          <a:pt x="5257378" y="16931"/>
                        </a:lnTo>
                        <a:lnTo>
                          <a:pt x="16932" y="169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8455" cap="flat">
                    <a:noFill/>
                    <a:prstDash val="solid"/>
                    <a:miter/>
                  </a:ln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0" name="图形 6"/>
                <p:cNvGrpSpPr/>
                <p:nvPr/>
              </p:nvGrpSpPr>
              <p:grpSpPr>
                <a:xfrm>
                  <a:off x="2675255" y="2019701"/>
                  <a:ext cx="5935346" cy="2905975"/>
                  <a:chOff x="0" y="0"/>
                  <a:chExt cx="5274310" cy="2581910"/>
                </a:xfrm>
              </p:grpSpPr>
              <p:sp>
                <p:nvSpPr>
                  <p:cNvPr id="41" name="任意多边形: 形状 13"/>
                  <p:cNvSpPr/>
                  <p:nvPr/>
                </p:nvSpPr>
                <p:spPr>
                  <a:xfrm>
                    <a:off x="0" y="0"/>
                    <a:ext cx="5274310" cy="2581910"/>
                  </a:xfrm>
                  <a:custGeom>
                    <a:avLst/>
                    <a:gdLst>
                      <a:gd name="connsiteX0" fmla="*/ 0 w 5274310"/>
                      <a:gd name="connsiteY0" fmla="*/ 0 h 2581910"/>
                      <a:gd name="connsiteX1" fmla="*/ 5274310 w 5274310"/>
                      <a:gd name="connsiteY1" fmla="*/ 0 h 2581910"/>
                      <a:gd name="connsiteX2" fmla="*/ 5274310 w 5274310"/>
                      <a:gd name="connsiteY2" fmla="*/ 2581910 h 2581910"/>
                      <a:gd name="connsiteX3" fmla="*/ 0 w 5274310"/>
                      <a:gd name="connsiteY3" fmla="*/ 2581910 h 2581910"/>
                      <a:gd name="connsiteX4" fmla="*/ 0 w 5274310"/>
                      <a:gd name="connsiteY4" fmla="*/ 0 h 25819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274310" h="2581910">
                        <a:moveTo>
                          <a:pt x="0" y="0"/>
                        </a:moveTo>
                        <a:lnTo>
                          <a:pt x="5274310" y="0"/>
                        </a:lnTo>
                        <a:lnTo>
                          <a:pt x="5274310" y="2581910"/>
                        </a:lnTo>
                        <a:lnTo>
                          <a:pt x="0" y="258191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8455" cap="flat">
                    <a:noFill/>
                    <a:prstDash val="solid"/>
                    <a:miter/>
                  </a:ln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" name="任意多边形: 形状 14"/>
                  <p:cNvSpPr/>
                  <p:nvPr/>
                </p:nvSpPr>
                <p:spPr>
                  <a:xfrm>
                    <a:off x="0" y="0"/>
                    <a:ext cx="5274310" cy="2581910"/>
                  </a:xfrm>
                  <a:custGeom>
                    <a:avLst/>
                    <a:gdLst>
                      <a:gd name="connsiteX0" fmla="*/ 0 w 5274310"/>
                      <a:gd name="connsiteY0" fmla="*/ 0 h 2581910"/>
                      <a:gd name="connsiteX1" fmla="*/ 5274310 w 5274310"/>
                      <a:gd name="connsiteY1" fmla="*/ 0 h 2581910"/>
                      <a:gd name="connsiteX2" fmla="*/ 5274310 w 5274310"/>
                      <a:gd name="connsiteY2" fmla="*/ 2581910 h 2581910"/>
                      <a:gd name="connsiteX3" fmla="*/ 0 w 5274310"/>
                      <a:gd name="connsiteY3" fmla="*/ 2581910 h 2581910"/>
                      <a:gd name="connsiteX4" fmla="*/ 0 w 5274310"/>
                      <a:gd name="connsiteY4" fmla="*/ 0 h 2581910"/>
                      <a:gd name="connsiteX5" fmla="*/ 16932 w 5274310"/>
                      <a:gd name="connsiteY5" fmla="*/ 16931 h 2581910"/>
                      <a:gd name="connsiteX6" fmla="*/ 16932 w 5274310"/>
                      <a:gd name="connsiteY6" fmla="*/ 2564980 h 2581910"/>
                      <a:gd name="connsiteX7" fmla="*/ 5257378 w 5274310"/>
                      <a:gd name="connsiteY7" fmla="*/ 2564980 h 2581910"/>
                      <a:gd name="connsiteX8" fmla="*/ 5257378 w 5274310"/>
                      <a:gd name="connsiteY8" fmla="*/ 16931 h 2581910"/>
                      <a:gd name="connsiteX9" fmla="*/ 16932 w 5274310"/>
                      <a:gd name="connsiteY9" fmla="*/ 16931 h 25819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5274310" h="2581910">
                        <a:moveTo>
                          <a:pt x="0" y="0"/>
                        </a:moveTo>
                        <a:lnTo>
                          <a:pt x="5274310" y="0"/>
                        </a:lnTo>
                        <a:lnTo>
                          <a:pt x="5274310" y="2581910"/>
                        </a:lnTo>
                        <a:lnTo>
                          <a:pt x="0" y="2581910"/>
                        </a:lnTo>
                        <a:lnTo>
                          <a:pt x="0" y="0"/>
                        </a:lnTo>
                        <a:close/>
                        <a:moveTo>
                          <a:pt x="16932" y="16931"/>
                        </a:moveTo>
                        <a:lnTo>
                          <a:pt x="16932" y="2564980"/>
                        </a:lnTo>
                        <a:lnTo>
                          <a:pt x="5257378" y="2564980"/>
                        </a:lnTo>
                        <a:lnTo>
                          <a:pt x="5257378" y="16931"/>
                        </a:lnTo>
                        <a:lnTo>
                          <a:pt x="16932" y="169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8455" cap="flat">
                    <a:noFill/>
                    <a:prstDash val="solid"/>
                    <a:miter/>
                  </a:ln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43" name="组合 42"/>
              <p:cNvGrpSpPr/>
              <p:nvPr/>
            </p:nvGrpSpPr>
            <p:grpSpPr>
              <a:xfrm>
                <a:off x="8153877" y="2284074"/>
                <a:ext cx="240823" cy="120651"/>
                <a:chOff x="8153877" y="2284074"/>
                <a:chExt cx="240823" cy="120651"/>
              </a:xfrm>
            </p:grpSpPr>
            <p:sp>
              <p:nvSpPr>
                <p:cNvPr id="44" name="任意多边形: 形状 9"/>
                <p:cNvSpPr/>
                <p:nvPr/>
              </p:nvSpPr>
              <p:spPr>
                <a:xfrm rot="2700000">
                  <a:off x="8274050" y="2284075"/>
                  <a:ext cx="120650" cy="120650"/>
                </a:xfrm>
                <a:custGeom>
                  <a:avLst/>
                  <a:gdLst>
                    <a:gd name="connsiteX0" fmla="*/ -6 w 121104"/>
                    <a:gd name="connsiteY0" fmla="*/ 3 h 121104"/>
                    <a:gd name="connsiteX1" fmla="*/ 121098 w 121104"/>
                    <a:gd name="connsiteY1" fmla="*/ 3 h 121104"/>
                    <a:gd name="connsiteX2" fmla="*/ 121098 w 121104"/>
                    <a:gd name="connsiteY2" fmla="*/ 121107 h 121104"/>
                    <a:gd name="connsiteX3" fmla="*/ -6 w 121104"/>
                    <a:gd name="connsiteY3" fmla="*/ 121107 h 121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104" h="121104">
                      <a:moveTo>
                        <a:pt x="-6" y="3"/>
                      </a:moveTo>
                      <a:lnTo>
                        <a:pt x="121098" y="3"/>
                      </a:lnTo>
                      <a:lnTo>
                        <a:pt x="121098" y="121107"/>
                      </a:lnTo>
                      <a:lnTo>
                        <a:pt x="-6" y="121107"/>
                      </a:lnTo>
                      <a:close/>
                    </a:path>
                  </a:pathLst>
                </a:custGeom>
                <a:solidFill>
                  <a:srgbClr val="AACCD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" name="任意多边形: 形状 10"/>
                <p:cNvSpPr/>
                <p:nvPr/>
              </p:nvSpPr>
              <p:spPr>
                <a:xfrm rot="2700000">
                  <a:off x="8153877" y="2284074"/>
                  <a:ext cx="120650" cy="120650"/>
                </a:xfrm>
                <a:custGeom>
                  <a:avLst/>
                  <a:gdLst>
                    <a:gd name="connsiteX0" fmla="*/ -6 w 121104"/>
                    <a:gd name="connsiteY0" fmla="*/ 3 h 121104"/>
                    <a:gd name="connsiteX1" fmla="*/ 121098 w 121104"/>
                    <a:gd name="connsiteY1" fmla="*/ 3 h 121104"/>
                    <a:gd name="connsiteX2" fmla="*/ 121098 w 121104"/>
                    <a:gd name="connsiteY2" fmla="*/ 121107 h 121104"/>
                    <a:gd name="connsiteX3" fmla="*/ -6 w 121104"/>
                    <a:gd name="connsiteY3" fmla="*/ 121107 h 121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104" h="121104">
                      <a:moveTo>
                        <a:pt x="-6" y="3"/>
                      </a:moveTo>
                      <a:lnTo>
                        <a:pt x="121098" y="3"/>
                      </a:lnTo>
                      <a:lnTo>
                        <a:pt x="121098" y="121107"/>
                      </a:lnTo>
                      <a:lnTo>
                        <a:pt x="-6" y="121107"/>
                      </a:lnTo>
                      <a:close/>
                    </a:path>
                  </a:pathLst>
                </a:custGeom>
                <a:solidFill>
                  <a:srgbClr val="AACCD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6" name="组合 45"/>
              <p:cNvGrpSpPr/>
              <p:nvPr/>
            </p:nvGrpSpPr>
            <p:grpSpPr>
              <a:xfrm>
                <a:off x="2990945" y="2284074"/>
                <a:ext cx="227807" cy="120651"/>
                <a:chOff x="2990945" y="2284074"/>
                <a:chExt cx="227807" cy="120651"/>
              </a:xfrm>
            </p:grpSpPr>
            <p:sp>
              <p:nvSpPr>
                <p:cNvPr id="47" name="任意多边形: 形状 7"/>
                <p:cNvSpPr/>
                <p:nvPr/>
              </p:nvSpPr>
              <p:spPr>
                <a:xfrm rot="2700000">
                  <a:off x="3098102" y="2284075"/>
                  <a:ext cx="120650" cy="120650"/>
                </a:xfrm>
                <a:custGeom>
                  <a:avLst/>
                  <a:gdLst>
                    <a:gd name="connsiteX0" fmla="*/ -6 w 121104"/>
                    <a:gd name="connsiteY0" fmla="*/ 3 h 121104"/>
                    <a:gd name="connsiteX1" fmla="*/ 121098 w 121104"/>
                    <a:gd name="connsiteY1" fmla="*/ 3 h 121104"/>
                    <a:gd name="connsiteX2" fmla="*/ 121098 w 121104"/>
                    <a:gd name="connsiteY2" fmla="*/ 121107 h 121104"/>
                    <a:gd name="connsiteX3" fmla="*/ -6 w 121104"/>
                    <a:gd name="connsiteY3" fmla="*/ 121107 h 121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104" h="121104">
                      <a:moveTo>
                        <a:pt x="-6" y="3"/>
                      </a:moveTo>
                      <a:lnTo>
                        <a:pt x="121098" y="3"/>
                      </a:lnTo>
                      <a:lnTo>
                        <a:pt x="121098" y="121107"/>
                      </a:lnTo>
                      <a:lnTo>
                        <a:pt x="-6" y="121107"/>
                      </a:lnTo>
                      <a:close/>
                    </a:path>
                  </a:pathLst>
                </a:custGeom>
                <a:solidFill>
                  <a:srgbClr val="AACCD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任意多边形: 形状 8"/>
                <p:cNvSpPr/>
                <p:nvPr/>
              </p:nvSpPr>
              <p:spPr>
                <a:xfrm rot="2700000">
                  <a:off x="2990945" y="2284074"/>
                  <a:ext cx="120650" cy="120650"/>
                </a:xfrm>
                <a:custGeom>
                  <a:avLst/>
                  <a:gdLst>
                    <a:gd name="connsiteX0" fmla="*/ -6 w 121104"/>
                    <a:gd name="connsiteY0" fmla="*/ 3 h 121104"/>
                    <a:gd name="connsiteX1" fmla="*/ 121098 w 121104"/>
                    <a:gd name="connsiteY1" fmla="*/ 3 h 121104"/>
                    <a:gd name="connsiteX2" fmla="*/ 121098 w 121104"/>
                    <a:gd name="connsiteY2" fmla="*/ 121107 h 121104"/>
                    <a:gd name="connsiteX3" fmla="*/ -6 w 121104"/>
                    <a:gd name="connsiteY3" fmla="*/ 121107 h 121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104" h="121104">
                      <a:moveTo>
                        <a:pt x="-6" y="3"/>
                      </a:moveTo>
                      <a:lnTo>
                        <a:pt x="121098" y="3"/>
                      </a:lnTo>
                      <a:lnTo>
                        <a:pt x="121098" y="121107"/>
                      </a:lnTo>
                      <a:lnTo>
                        <a:pt x="-6" y="121107"/>
                      </a:lnTo>
                      <a:close/>
                    </a:path>
                  </a:pathLst>
                </a:custGeom>
                <a:solidFill>
                  <a:srgbClr val="AACCD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49" name="文本框 48"/>
            <p:cNvSpPr txBox="1"/>
            <p:nvPr/>
          </p:nvSpPr>
          <p:spPr>
            <a:xfrm>
              <a:off x="3243718" y="2133679"/>
              <a:ext cx="5226577" cy="2620056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algn="just">
                <a:lnSpc>
                  <a:spcPct val="170000"/>
                </a:lnSpc>
              </a:pP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人工讲解问题：</a:t>
              </a:r>
              <a:endParaRPr lang="zh-CN" altLang="en-US" sz="1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just">
                <a:lnSpc>
                  <a:spcPct val="170000"/>
                </a:lnSpc>
              </a:pPr>
              <a:r>
                <a:rPr lang="ja-JP" altLang="en-US" sz="1600" b="1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・</a:t>
              </a:r>
              <a:r>
                <a:rPr lang="zh-CN" altLang="en-US" sz="1600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人力成本高,讲解员数量有限</a:t>
              </a:r>
              <a:endParaRPr lang="zh-CN" altLang="en-US" sz="1600" dirty="0"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just">
                <a:lnSpc>
                  <a:spcPct val="170000"/>
                </a:lnSpc>
              </a:pPr>
              <a:r>
                <a:rPr lang="ja-JP" altLang="en-US" sz="1600" b="1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・</a:t>
              </a:r>
              <a:r>
                <a:rPr lang="zh-CN" altLang="en-US" sz="1600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服务覆盖率低:广东省博物馆专职讲解员仅能服务不到</a:t>
              </a:r>
              <a:r>
                <a:rPr lang="en-US" altLang="zh-CN" sz="1600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1600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1/4参观者​</a:t>
              </a:r>
              <a:endParaRPr lang="zh-CN" altLang="en-US" sz="1600" dirty="0"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just">
                <a:lnSpc>
                  <a:spcPct val="170000"/>
                </a:lnSpc>
              </a:pPr>
              <a:r>
                <a:rPr lang="ja-JP" altLang="en-US" sz="1600" b="1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・</a:t>
              </a:r>
              <a:r>
                <a:rPr lang="zh-CN" altLang="en-US" sz="1600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"旺季人手不够,淡季养人成本高"的困境</a:t>
              </a:r>
              <a:endParaRPr lang="zh-CN" altLang="en-US" sz="1600" dirty="0"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775996" y="47155"/>
            <a:ext cx="864000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一、课题背景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及研究目的与意义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9955" y="776605"/>
            <a:ext cx="3001010" cy="346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/>
              <a:t>1.</a:t>
            </a:r>
            <a:r>
              <a:rPr lang="zh-CN" altLang="en-US" sz="2000" b="1"/>
              <a:t>传统导览方式的局限</a:t>
            </a:r>
            <a:endParaRPr lang="zh-CN" altLang="en-US" sz="2000" b="1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7700" y="3996055"/>
            <a:ext cx="2814955" cy="22999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935" y="4053205"/>
            <a:ext cx="3025140" cy="2047240"/>
          </a:xfrm>
          <a:prstGeom prst="rect">
            <a:avLst/>
          </a:prstGeom>
        </p:spPr>
      </p:pic>
      <p:grpSp>
        <p:nvGrpSpPr>
          <p:cNvPr id="54" name="组合 53" descr="7b0a202020202274657874626f78223a20227b5c2269645c223a32303334383534322c5c227469645c223a5c225c227d220a7d0a"/>
          <p:cNvGrpSpPr/>
          <p:nvPr/>
        </p:nvGrpSpPr>
        <p:grpSpPr>
          <a:xfrm>
            <a:off x="6317615" y="1226185"/>
            <a:ext cx="5400040" cy="2700021"/>
            <a:chOff x="2675255" y="2019701"/>
            <a:chExt cx="6057900" cy="3028951"/>
          </a:xfrm>
        </p:grpSpPr>
        <p:grpSp>
          <p:nvGrpSpPr>
            <p:cNvPr id="55" name="组合 54"/>
            <p:cNvGrpSpPr/>
            <p:nvPr/>
          </p:nvGrpSpPr>
          <p:grpSpPr>
            <a:xfrm>
              <a:off x="2675255" y="2019701"/>
              <a:ext cx="6057900" cy="3028951"/>
              <a:chOff x="2675255" y="2019701"/>
              <a:chExt cx="6057900" cy="3028951"/>
            </a:xfrm>
          </p:grpSpPr>
          <p:grpSp>
            <p:nvGrpSpPr>
              <p:cNvPr id="56" name="组合 55"/>
              <p:cNvGrpSpPr/>
              <p:nvPr/>
            </p:nvGrpSpPr>
            <p:grpSpPr>
              <a:xfrm>
                <a:off x="2675255" y="2019701"/>
                <a:ext cx="6057900" cy="3028951"/>
                <a:chOff x="2675255" y="2019701"/>
                <a:chExt cx="6057900" cy="3028951"/>
              </a:xfrm>
            </p:grpSpPr>
            <p:grpSp>
              <p:nvGrpSpPr>
                <p:cNvPr id="57" name="图形 1"/>
                <p:cNvGrpSpPr/>
                <p:nvPr/>
              </p:nvGrpSpPr>
              <p:grpSpPr>
                <a:xfrm>
                  <a:off x="2797809" y="2129770"/>
                  <a:ext cx="5935346" cy="2918882"/>
                  <a:chOff x="0" y="0"/>
                  <a:chExt cx="5274310" cy="2581910"/>
                </a:xfrm>
              </p:grpSpPr>
              <p:sp>
                <p:nvSpPr>
                  <p:cNvPr id="58" name="任意多边形: 形状 15"/>
                  <p:cNvSpPr/>
                  <p:nvPr/>
                </p:nvSpPr>
                <p:spPr>
                  <a:xfrm>
                    <a:off x="0" y="0"/>
                    <a:ext cx="5274310" cy="2581910"/>
                  </a:xfrm>
                  <a:custGeom>
                    <a:avLst/>
                    <a:gdLst>
                      <a:gd name="connsiteX0" fmla="*/ 0 w 5274310"/>
                      <a:gd name="connsiteY0" fmla="*/ 0 h 2581910"/>
                      <a:gd name="connsiteX1" fmla="*/ 5274310 w 5274310"/>
                      <a:gd name="connsiteY1" fmla="*/ 0 h 2581910"/>
                      <a:gd name="connsiteX2" fmla="*/ 5274310 w 5274310"/>
                      <a:gd name="connsiteY2" fmla="*/ 2581910 h 2581910"/>
                      <a:gd name="connsiteX3" fmla="*/ 0 w 5274310"/>
                      <a:gd name="connsiteY3" fmla="*/ 2581910 h 2581910"/>
                      <a:gd name="connsiteX4" fmla="*/ 0 w 5274310"/>
                      <a:gd name="connsiteY4" fmla="*/ 0 h 25819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274310" h="2581910">
                        <a:moveTo>
                          <a:pt x="0" y="0"/>
                        </a:moveTo>
                        <a:lnTo>
                          <a:pt x="5274310" y="0"/>
                        </a:lnTo>
                        <a:lnTo>
                          <a:pt x="5274310" y="2581910"/>
                        </a:lnTo>
                        <a:lnTo>
                          <a:pt x="0" y="258191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D9F2F9"/>
                  </a:solidFill>
                  <a:ln w="8455" cap="flat">
                    <a:noFill/>
                    <a:prstDash val="solid"/>
                    <a:miter/>
                  </a:ln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9" name="任意多边形: 形状 16"/>
                  <p:cNvSpPr/>
                  <p:nvPr/>
                </p:nvSpPr>
                <p:spPr>
                  <a:xfrm>
                    <a:off x="0" y="0"/>
                    <a:ext cx="5274310" cy="2581910"/>
                  </a:xfrm>
                  <a:custGeom>
                    <a:avLst/>
                    <a:gdLst>
                      <a:gd name="connsiteX0" fmla="*/ 0 w 5274310"/>
                      <a:gd name="connsiteY0" fmla="*/ 0 h 2581910"/>
                      <a:gd name="connsiteX1" fmla="*/ 5274310 w 5274310"/>
                      <a:gd name="connsiteY1" fmla="*/ 0 h 2581910"/>
                      <a:gd name="connsiteX2" fmla="*/ 5274310 w 5274310"/>
                      <a:gd name="connsiteY2" fmla="*/ 2581910 h 2581910"/>
                      <a:gd name="connsiteX3" fmla="*/ 0 w 5274310"/>
                      <a:gd name="connsiteY3" fmla="*/ 2581910 h 2581910"/>
                      <a:gd name="connsiteX4" fmla="*/ 0 w 5274310"/>
                      <a:gd name="connsiteY4" fmla="*/ 0 h 2581910"/>
                      <a:gd name="connsiteX5" fmla="*/ 16932 w 5274310"/>
                      <a:gd name="connsiteY5" fmla="*/ 16931 h 2581910"/>
                      <a:gd name="connsiteX6" fmla="*/ 16932 w 5274310"/>
                      <a:gd name="connsiteY6" fmla="*/ 2564980 h 2581910"/>
                      <a:gd name="connsiteX7" fmla="*/ 5257378 w 5274310"/>
                      <a:gd name="connsiteY7" fmla="*/ 2564980 h 2581910"/>
                      <a:gd name="connsiteX8" fmla="*/ 5257378 w 5274310"/>
                      <a:gd name="connsiteY8" fmla="*/ 16931 h 2581910"/>
                      <a:gd name="connsiteX9" fmla="*/ 16932 w 5274310"/>
                      <a:gd name="connsiteY9" fmla="*/ 16931 h 25819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5274310" h="2581910">
                        <a:moveTo>
                          <a:pt x="0" y="0"/>
                        </a:moveTo>
                        <a:lnTo>
                          <a:pt x="5274310" y="0"/>
                        </a:lnTo>
                        <a:lnTo>
                          <a:pt x="5274310" y="2581910"/>
                        </a:lnTo>
                        <a:lnTo>
                          <a:pt x="0" y="2581910"/>
                        </a:lnTo>
                        <a:lnTo>
                          <a:pt x="0" y="0"/>
                        </a:lnTo>
                        <a:close/>
                        <a:moveTo>
                          <a:pt x="16932" y="16931"/>
                        </a:moveTo>
                        <a:lnTo>
                          <a:pt x="16932" y="2564980"/>
                        </a:lnTo>
                        <a:lnTo>
                          <a:pt x="5257378" y="2564980"/>
                        </a:lnTo>
                        <a:lnTo>
                          <a:pt x="5257378" y="16931"/>
                        </a:lnTo>
                        <a:lnTo>
                          <a:pt x="16932" y="169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8455" cap="flat">
                    <a:noFill/>
                    <a:prstDash val="solid"/>
                    <a:miter/>
                  </a:ln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0" name="图形 6"/>
                <p:cNvGrpSpPr/>
                <p:nvPr/>
              </p:nvGrpSpPr>
              <p:grpSpPr>
                <a:xfrm>
                  <a:off x="2675255" y="2019701"/>
                  <a:ext cx="5935346" cy="2905975"/>
                  <a:chOff x="0" y="0"/>
                  <a:chExt cx="5274310" cy="2581910"/>
                </a:xfrm>
              </p:grpSpPr>
              <p:sp>
                <p:nvSpPr>
                  <p:cNvPr id="61" name="任意多边形: 形状 13"/>
                  <p:cNvSpPr/>
                  <p:nvPr/>
                </p:nvSpPr>
                <p:spPr>
                  <a:xfrm>
                    <a:off x="0" y="0"/>
                    <a:ext cx="5274310" cy="2581910"/>
                  </a:xfrm>
                  <a:custGeom>
                    <a:avLst/>
                    <a:gdLst>
                      <a:gd name="connsiteX0" fmla="*/ 0 w 5274310"/>
                      <a:gd name="connsiteY0" fmla="*/ 0 h 2581910"/>
                      <a:gd name="connsiteX1" fmla="*/ 5274310 w 5274310"/>
                      <a:gd name="connsiteY1" fmla="*/ 0 h 2581910"/>
                      <a:gd name="connsiteX2" fmla="*/ 5274310 w 5274310"/>
                      <a:gd name="connsiteY2" fmla="*/ 2581910 h 2581910"/>
                      <a:gd name="connsiteX3" fmla="*/ 0 w 5274310"/>
                      <a:gd name="connsiteY3" fmla="*/ 2581910 h 2581910"/>
                      <a:gd name="connsiteX4" fmla="*/ 0 w 5274310"/>
                      <a:gd name="connsiteY4" fmla="*/ 0 h 25819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274310" h="2581910">
                        <a:moveTo>
                          <a:pt x="0" y="0"/>
                        </a:moveTo>
                        <a:lnTo>
                          <a:pt x="5274310" y="0"/>
                        </a:lnTo>
                        <a:lnTo>
                          <a:pt x="5274310" y="2581910"/>
                        </a:lnTo>
                        <a:lnTo>
                          <a:pt x="0" y="258191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8455" cap="flat">
                    <a:noFill/>
                    <a:prstDash val="solid"/>
                    <a:miter/>
                  </a:ln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62" name="任意多边形: 形状 14"/>
                  <p:cNvSpPr/>
                  <p:nvPr/>
                </p:nvSpPr>
                <p:spPr>
                  <a:xfrm>
                    <a:off x="0" y="0"/>
                    <a:ext cx="5274310" cy="2581910"/>
                  </a:xfrm>
                  <a:custGeom>
                    <a:avLst/>
                    <a:gdLst>
                      <a:gd name="connsiteX0" fmla="*/ 0 w 5274310"/>
                      <a:gd name="connsiteY0" fmla="*/ 0 h 2581910"/>
                      <a:gd name="connsiteX1" fmla="*/ 5274310 w 5274310"/>
                      <a:gd name="connsiteY1" fmla="*/ 0 h 2581910"/>
                      <a:gd name="connsiteX2" fmla="*/ 5274310 w 5274310"/>
                      <a:gd name="connsiteY2" fmla="*/ 2581910 h 2581910"/>
                      <a:gd name="connsiteX3" fmla="*/ 0 w 5274310"/>
                      <a:gd name="connsiteY3" fmla="*/ 2581910 h 2581910"/>
                      <a:gd name="connsiteX4" fmla="*/ 0 w 5274310"/>
                      <a:gd name="connsiteY4" fmla="*/ 0 h 2581910"/>
                      <a:gd name="connsiteX5" fmla="*/ 16932 w 5274310"/>
                      <a:gd name="connsiteY5" fmla="*/ 16931 h 2581910"/>
                      <a:gd name="connsiteX6" fmla="*/ 16932 w 5274310"/>
                      <a:gd name="connsiteY6" fmla="*/ 2564980 h 2581910"/>
                      <a:gd name="connsiteX7" fmla="*/ 5257378 w 5274310"/>
                      <a:gd name="connsiteY7" fmla="*/ 2564980 h 2581910"/>
                      <a:gd name="connsiteX8" fmla="*/ 5257378 w 5274310"/>
                      <a:gd name="connsiteY8" fmla="*/ 16931 h 2581910"/>
                      <a:gd name="connsiteX9" fmla="*/ 16932 w 5274310"/>
                      <a:gd name="connsiteY9" fmla="*/ 16931 h 25819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5274310" h="2581910">
                        <a:moveTo>
                          <a:pt x="0" y="0"/>
                        </a:moveTo>
                        <a:lnTo>
                          <a:pt x="5274310" y="0"/>
                        </a:lnTo>
                        <a:lnTo>
                          <a:pt x="5274310" y="2581910"/>
                        </a:lnTo>
                        <a:lnTo>
                          <a:pt x="0" y="2581910"/>
                        </a:lnTo>
                        <a:lnTo>
                          <a:pt x="0" y="0"/>
                        </a:lnTo>
                        <a:close/>
                        <a:moveTo>
                          <a:pt x="16932" y="16931"/>
                        </a:moveTo>
                        <a:lnTo>
                          <a:pt x="16932" y="2564980"/>
                        </a:lnTo>
                        <a:lnTo>
                          <a:pt x="5257378" y="2564980"/>
                        </a:lnTo>
                        <a:lnTo>
                          <a:pt x="5257378" y="16931"/>
                        </a:lnTo>
                        <a:lnTo>
                          <a:pt x="16932" y="1693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8455" cap="flat">
                    <a:noFill/>
                    <a:prstDash val="solid"/>
                    <a:miter/>
                  </a:ln>
                </p:spPr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63" name="组合 62"/>
              <p:cNvGrpSpPr/>
              <p:nvPr/>
            </p:nvGrpSpPr>
            <p:grpSpPr>
              <a:xfrm>
                <a:off x="8153877" y="2284074"/>
                <a:ext cx="240823" cy="120651"/>
                <a:chOff x="8153877" y="2284074"/>
                <a:chExt cx="240823" cy="120651"/>
              </a:xfrm>
            </p:grpSpPr>
            <p:sp>
              <p:nvSpPr>
                <p:cNvPr id="64" name="任意多边形: 形状 9"/>
                <p:cNvSpPr/>
                <p:nvPr/>
              </p:nvSpPr>
              <p:spPr>
                <a:xfrm rot="2700000">
                  <a:off x="8274050" y="2284075"/>
                  <a:ext cx="120650" cy="120650"/>
                </a:xfrm>
                <a:custGeom>
                  <a:avLst/>
                  <a:gdLst>
                    <a:gd name="connsiteX0" fmla="*/ -6 w 121104"/>
                    <a:gd name="connsiteY0" fmla="*/ 3 h 121104"/>
                    <a:gd name="connsiteX1" fmla="*/ 121098 w 121104"/>
                    <a:gd name="connsiteY1" fmla="*/ 3 h 121104"/>
                    <a:gd name="connsiteX2" fmla="*/ 121098 w 121104"/>
                    <a:gd name="connsiteY2" fmla="*/ 121107 h 121104"/>
                    <a:gd name="connsiteX3" fmla="*/ -6 w 121104"/>
                    <a:gd name="connsiteY3" fmla="*/ 121107 h 121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104" h="121104">
                      <a:moveTo>
                        <a:pt x="-6" y="3"/>
                      </a:moveTo>
                      <a:lnTo>
                        <a:pt x="121098" y="3"/>
                      </a:lnTo>
                      <a:lnTo>
                        <a:pt x="121098" y="121107"/>
                      </a:lnTo>
                      <a:lnTo>
                        <a:pt x="-6" y="121107"/>
                      </a:lnTo>
                      <a:close/>
                    </a:path>
                  </a:pathLst>
                </a:custGeom>
                <a:solidFill>
                  <a:srgbClr val="AACCD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任意多边形: 形状 10"/>
                <p:cNvSpPr/>
                <p:nvPr/>
              </p:nvSpPr>
              <p:spPr>
                <a:xfrm rot="2700000">
                  <a:off x="8153877" y="2284074"/>
                  <a:ext cx="120650" cy="120650"/>
                </a:xfrm>
                <a:custGeom>
                  <a:avLst/>
                  <a:gdLst>
                    <a:gd name="connsiteX0" fmla="*/ -6 w 121104"/>
                    <a:gd name="connsiteY0" fmla="*/ 3 h 121104"/>
                    <a:gd name="connsiteX1" fmla="*/ 121098 w 121104"/>
                    <a:gd name="connsiteY1" fmla="*/ 3 h 121104"/>
                    <a:gd name="connsiteX2" fmla="*/ 121098 w 121104"/>
                    <a:gd name="connsiteY2" fmla="*/ 121107 h 121104"/>
                    <a:gd name="connsiteX3" fmla="*/ -6 w 121104"/>
                    <a:gd name="connsiteY3" fmla="*/ 121107 h 121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104" h="121104">
                      <a:moveTo>
                        <a:pt x="-6" y="3"/>
                      </a:moveTo>
                      <a:lnTo>
                        <a:pt x="121098" y="3"/>
                      </a:lnTo>
                      <a:lnTo>
                        <a:pt x="121098" y="121107"/>
                      </a:lnTo>
                      <a:lnTo>
                        <a:pt x="-6" y="121107"/>
                      </a:lnTo>
                      <a:close/>
                    </a:path>
                  </a:pathLst>
                </a:custGeom>
                <a:solidFill>
                  <a:srgbClr val="AACCD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/>
              <p:cNvGrpSpPr/>
              <p:nvPr/>
            </p:nvGrpSpPr>
            <p:grpSpPr>
              <a:xfrm>
                <a:off x="2990945" y="2284074"/>
                <a:ext cx="227807" cy="120651"/>
                <a:chOff x="2990945" y="2284074"/>
                <a:chExt cx="227807" cy="120651"/>
              </a:xfrm>
            </p:grpSpPr>
            <p:sp>
              <p:nvSpPr>
                <p:cNvPr id="67" name="任意多边形: 形状 7"/>
                <p:cNvSpPr/>
                <p:nvPr/>
              </p:nvSpPr>
              <p:spPr>
                <a:xfrm rot="2700000">
                  <a:off x="3098102" y="2284075"/>
                  <a:ext cx="120650" cy="120650"/>
                </a:xfrm>
                <a:custGeom>
                  <a:avLst/>
                  <a:gdLst>
                    <a:gd name="connsiteX0" fmla="*/ -6 w 121104"/>
                    <a:gd name="connsiteY0" fmla="*/ 3 h 121104"/>
                    <a:gd name="connsiteX1" fmla="*/ 121098 w 121104"/>
                    <a:gd name="connsiteY1" fmla="*/ 3 h 121104"/>
                    <a:gd name="connsiteX2" fmla="*/ 121098 w 121104"/>
                    <a:gd name="connsiteY2" fmla="*/ 121107 h 121104"/>
                    <a:gd name="connsiteX3" fmla="*/ -6 w 121104"/>
                    <a:gd name="connsiteY3" fmla="*/ 121107 h 121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104" h="121104">
                      <a:moveTo>
                        <a:pt x="-6" y="3"/>
                      </a:moveTo>
                      <a:lnTo>
                        <a:pt x="121098" y="3"/>
                      </a:lnTo>
                      <a:lnTo>
                        <a:pt x="121098" y="121107"/>
                      </a:lnTo>
                      <a:lnTo>
                        <a:pt x="-6" y="121107"/>
                      </a:lnTo>
                      <a:close/>
                    </a:path>
                  </a:pathLst>
                </a:custGeom>
                <a:solidFill>
                  <a:srgbClr val="AACCD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任意多边形: 形状 8"/>
                <p:cNvSpPr/>
                <p:nvPr/>
              </p:nvSpPr>
              <p:spPr>
                <a:xfrm rot="2700000">
                  <a:off x="2990945" y="2284074"/>
                  <a:ext cx="120650" cy="120650"/>
                </a:xfrm>
                <a:custGeom>
                  <a:avLst/>
                  <a:gdLst>
                    <a:gd name="connsiteX0" fmla="*/ -6 w 121104"/>
                    <a:gd name="connsiteY0" fmla="*/ 3 h 121104"/>
                    <a:gd name="connsiteX1" fmla="*/ 121098 w 121104"/>
                    <a:gd name="connsiteY1" fmla="*/ 3 h 121104"/>
                    <a:gd name="connsiteX2" fmla="*/ 121098 w 121104"/>
                    <a:gd name="connsiteY2" fmla="*/ 121107 h 121104"/>
                    <a:gd name="connsiteX3" fmla="*/ -6 w 121104"/>
                    <a:gd name="connsiteY3" fmla="*/ 121107 h 121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1104" h="121104">
                      <a:moveTo>
                        <a:pt x="-6" y="3"/>
                      </a:moveTo>
                      <a:lnTo>
                        <a:pt x="121098" y="3"/>
                      </a:lnTo>
                      <a:lnTo>
                        <a:pt x="121098" y="121107"/>
                      </a:lnTo>
                      <a:lnTo>
                        <a:pt x="-6" y="121107"/>
                      </a:lnTo>
                      <a:close/>
                    </a:path>
                  </a:pathLst>
                </a:custGeom>
                <a:solidFill>
                  <a:srgbClr val="AACCD6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69" name="文本框 68"/>
            <p:cNvSpPr txBox="1"/>
            <p:nvPr/>
          </p:nvSpPr>
          <p:spPr>
            <a:xfrm>
              <a:off x="3332050" y="2130117"/>
              <a:ext cx="5226577" cy="2735458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just">
                <a:lnSpc>
                  <a:spcPct val="170000"/>
                </a:lnSpc>
                <a:buClrTx/>
                <a:buSzTx/>
                <a:buNone/>
              </a:pP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语音导览器局限：</a:t>
              </a:r>
              <a:endParaRPr lang="zh-CN" altLang="en-US" sz="1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just">
                <a:lnSpc>
                  <a:spcPct val="170000"/>
                </a:lnSpc>
                <a:buClrTx/>
                <a:buSzTx/>
                <a:buNone/>
              </a:pPr>
              <a:r>
                <a:rPr lang="ja-JP" altLang="en-US" sz="1600" b="1" dirty="0"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・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内容固定,更新周期长</a:t>
              </a:r>
              <a:endParaRPr lang="zh-CN" altLang="en-US" sz="1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just">
                <a:lnSpc>
                  <a:spcPct val="170000"/>
                </a:lnSpc>
                <a:buClrTx/>
                <a:buSzTx/>
                <a:buNone/>
              </a:pPr>
              <a:endParaRPr lang="zh-CN" altLang="en-US" sz="1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just">
                <a:lnSpc>
                  <a:spcPct val="170000"/>
                </a:lnSpc>
                <a:buClrTx/>
                <a:buSzTx/>
                <a:buNone/>
              </a:pPr>
              <a:r>
                <a:rPr lang="ja-JP" altLang="en-US" sz="1600" b="1" dirty="0"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・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无法实时调整,缺乏个性化交互</a:t>
              </a:r>
              <a:endParaRPr lang="zh-CN" altLang="en-US" sz="1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just">
                <a:lnSpc>
                  <a:spcPct val="170000"/>
                </a:lnSpc>
                <a:buClrTx/>
                <a:buSzTx/>
                <a:buNone/>
              </a:pPr>
              <a:endParaRPr lang="zh-CN" altLang="en-US" sz="1600" dirty="0"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just">
                <a:lnSpc>
                  <a:spcPct val="170000"/>
                </a:lnSpc>
                <a:buClrTx/>
                <a:buSzTx/>
                <a:buNone/>
              </a:pPr>
              <a:r>
                <a:rPr lang="ja-JP" altLang="en-US" sz="1600" b="1" dirty="0"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・</a:t>
              </a:r>
              <a:r>
                <a:rPr lang="zh-CN" altLang="en-US" sz="1600" dirty="0">
                  <a:latin typeface="微软雅黑" panose="020B0503020204020204" charset="-122"/>
                  <a:ea typeface="微软雅黑" panose="020B0503020204020204" charset="-122"/>
                </a:rPr>
                <a:t>维护成本高,难以反映最新研究成果</a:t>
              </a:r>
              <a:endParaRPr lang="zh-CN" altLang="en-US" sz="16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0" name="文本框 69"/>
          <p:cNvSpPr txBox="1"/>
          <p:nvPr/>
        </p:nvSpPr>
        <p:spPr>
          <a:xfrm>
            <a:off x="9812655" y="493268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故宫电子导览器</a:t>
            </a:r>
            <a:endParaRPr lang="zh-CN" altLang="en-US" sz="1400"/>
          </a:p>
        </p:txBody>
      </p:sp>
      <p:sp>
        <p:nvSpPr>
          <p:cNvPr id="71" name="文本框 70"/>
          <p:cNvSpPr txBox="1"/>
          <p:nvPr/>
        </p:nvSpPr>
        <p:spPr>
          <a:xfrm>
            <a:off x="4232910" y="496189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陕西历史博物馆人工讲解</a:t>
            </a:r>
            <a:endParaRPr lang="zh-CN" alt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775996" y="47155"/>
            <a:ext cx="864000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一、课题背景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及研究目的与意义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9955" y="776605"/>
            <a:ext cx="3001010" cy="346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/>
              <a:t>2.</a:t>
            </a:r>
            <a:r>
              <a:rPr lang="zh-CN" altLang="en-US" sz="2000" b="1"/>
              <a:t>技术发展的机遇</a:t>
            </a:r>
            <a:endParaRPr lang="zh-CN" altLang="en-US" sz="2000" b="1"/>
          </a:p>
        </p:txBody>
      </p:sp>
      <p:sp>
        <p:nvSpPr>
          <p:cNvPr id="19" name="文本框 18"/>
          <p:cNvSpPr txBox="1"/>
          <p:nvPr>
            <p:custDataLst>
              <p:tags r:id="rId1"/>
            </p:custDataLst>
          </p:nvPr>
        </p:nvSpPr>
        <p:spPr>
          <a:xfrm>
            <a:off x="854075" y="2430780"/>
            <a:ext cx="3158490" cy="398780"/>
          </a:xfrm>
          <a:prstGeom prst="rect">
            <a:avLst/>
          </a:prstGeom>
          <a:noFill/>
        </p:spPr>
        <p:txBody>
          <a:bodyPr wrap="square" bIns="0" rtlCol="0">
            <a:normAutofit/>
          </a:bodyPr>
          <a:p>
            <a:pPr algn="r"/>
            <a:r>
              <a:rPr lang="zh-CN" altLang="en-US" sz="2000" spc="300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大语言模型</a:t>
            </a:r>
            <a:r>
              <a:rPr lang="en-US" altLang="zh-CN" sz="2000" spc="300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(LLM)</a:t>
            </a:r>
            <a:r>
              <a:rPr lang="zh-CN" altLang="en-US" sz="2000" spc="300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突破</a:t>
            </a:r>
            <a:endParaRPr lang="zh-CN" altLang="en-US" sz="2000" spc="300">
              <a:solidFill>
                <a:schemeClr val="tx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"/>
            </p:custDataLst>
          </p:nvPr>
        </p:nvSpPr>
        <p:spPr>
          <a:xfrm>
            <a:off x="387350" y="2915285"/>
            <a:ext cx="4247515" cy="1632585"/>
          </a:xfrm>
          <a:prstGeom prst="rect">
            <a:avLst/>
          </a:prstGeom>
          <a:noFill/>
        </p:spPr>
        <p:txBody>
          <a:bodyPr wrap="square" rtlCol="0"/>
          <a:p>
            <a:pPr algn="r" fontAlgn="auto">
              <a:lnSpc>
                <a:spcPct val="130000"/>
              </a:lnSpc>
              <a:spcAft>
                <a:spcPts val="1000"/>
              </a:spcAft>
            </a:pPr>
            <a:r>
              <a:rPr lang="en-US" altLang="zh-CN" sz="1200" spc="15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ChatGPT</a:t>
            </a:r>
            <a:r>
              <a:rPr lang="zh-CN" altLang="en-US" sz="1200" spc="15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、</a:t>
            </a:r>
            <a:r>
              <a:rPr lang="en-US" altLang="zh-CN" sz="1200" spc="15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GPT-4</a:t>
            </a:r>
            <a:r>
              <a:rPr lang="zh-CN" altLang="en-US" sz="1200" spc="15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等展现强大的内容生成和对话能力</a:t>
            </a:r>
            <a:endParaRPr lang="en-US" altLang="zh-CN" sz="1200" spc="15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  <a:p>
            <a:pPr algn="r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200" spc="15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文心一言、通义千问等中文大模型快速发展</a:t>
            </a:r>
            <a:endParaRPr lang="zh-CN" altLang="en-US" sz="1200" spc="15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  <a:p>
            <a:pPr algn="r" fontAlgn="auto">
              <a:lnSpc>
                <a:spcPct val="130000"/>
              </a:lnSpc>
              <a:spcAft>
                <a:spcPts val="1000"/>
              </a:spcAft>
            </a:pPr>
            <a:endParaRPr lang="en-US" altLang="zh-CN" sz="1200" spc="150">
              <a:solidFill>
                <a:srgbClr val="000000">
                  <a:lumMod val="50000"/>
                  <a:lumOff val="50000"/>
                </a:srgb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  <a:p>
            <a:pPr algn="r" fontAlgn="auto">
              <a:lnSpc>
                <a:spcPct val="130000"/>
              </a:lnSpc>
              <a:spcAft>
                <a:spcPts val="1000"/>
              </a:spcAft>
            </a:pPr>
            <a:endParaRPr lang="en-US" altLang="zh-CN" sz="1200" spc="150">
              <a:solidFill>
                <a:srgbClr val="000000">
                  <a:lumMod val="50000"/>
                  <a:lumOff val="50000"/>
                </a:srgb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cxnSp>
        <p:nvCxnSpPr>
          <p:cNvPr id="36" name="直接箭头连接符 35"/>
          <p:cNvCxnSpPr/>
          <p:nvPr>
            <p:custDataLst>
              <p:tags r:id="rId3"/>
            </p:custDataLst>
          </p:nvPr>
        </p:nvCxnSpPr>
        <p:spPr>
          <a:xfrm>
            <a:off x="1906905" y="2846705"/>
            <a:ext cx="1970405" cy="0"/>
          </a:xfrm>
          <a:prstGeom prst="straightConnector1">
            <a:avLst/>
          </a:prstGeom>
          <a:ln>
            <a:headEnd type="oval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泪滴形 20"/>
          <p:cNvSpPr/>
          <p:nvPr>
            <p:custDataLst>
              <p:tags r:id="rId4"/>
            </p:custDataLst>
          </p:nvPr>
        </p:nvSpPr>
        <p:spPr>
          <a:xfrm flipH="1">
            <a:off x="4243070" y="993775"/>
            <a:ext cx="1682115" cy="1682115"/>
          </a:xfrm>
          <a:prstGeom prst="teardrop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泪滴形 38"/>
          <p:cNvSpPr/>
          <p:nvPr>
            <p:custDataLst>
              <p:tags r:id="rId5"/>
            </p:custDataLst>
          </p:nvPr>
        </p:nvSpPr>
        <p:spPr>
          <a:xfrm>
            <a:off x="6319520" y="993775"/>
            <a:ext cx="1682115" cy="1682115"/>
          </a:xfrm>
          <a:prstGeom prst="teardrop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泪滴形 29"/>
          <p:cNvSpPr/>
          <p:nvPr>
            <p:custDataLst>
              <p:tags r:id="rId6"/>
            </p:custDataLst>
          </p:nvPr>
        </p:nvSpPr>
        <p:spPr>
          <a:xfrm rot="2700000" flipH="1">
            <a:off x="5271770" y="2757170"/>
            <a:ext cx="1682115" cy="1682115"/>
          </a:xfrm>
          <a:prstGeom prst="teardrop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7"/>
            </p:custDataLst>
          </p:nvPr>
        </p:nvSpPr>
        <p:spPr>
          <a:xfrm>
            <a:off x="4634230" y="4979035"/>
            <a:ext cx="3158490" cy="398780"/>
          </a:xfrm>
          <a:prstGeom prst="rect">
            <a:avLst/>
          </a:prstGeom>
          <a:noFill/>
        </p:spPr>
        <p:txBody>
          <a:bodyPr wrap="square" bIns="0" rtlCol="0">
            <a:normAutofit/>
          </a:bodyPr>
          <a:p>
            <a:pPr algn="r"/>
            <a:r>
              <a:rPr lang="zh-CN" altLang="en-US" sz="2000" spc="300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语音合成技术进步</a:t>
            </a:r>
            <a:endParaRPr lang="zh-CN" altLang="en-US" sz="2000" spc="300">
              <a:solidFill>
                <a:schemeClr val="tx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8"/>
            </p:custDataLst>
          </p:nvPr>
        </p:nvSpPr>
        <p:spPr>
          <a:xfrm>
            <a:off x="4431665" y="5463540"/>
            <a:ext cx="3361055" cy="865505"/>
          </a:xfrm>
          <a:prstGeom prst="rect">
            <a:avLst/>
          </a:prstGeom>
          <a:noFill/>
        </p:spPr>
        <p:txBody>
          <a:bodyPr wrap="square" rtlCol="0"/>
          <a:p>
            <a:pPr algn="r" fontAlgn="auto">
              <a:lnSpc>
                <a:spcPct val="130000"/>
              </a:lnSpc>
              <a:spcAft>
                <a:spcPts val="1000"/>
              </a:spcAft>
            </a:pPr>
            <a:r>
              <a:rPr lang="en-US" altLang="zh-CN" sz="1200" spc="15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TTS</a:t>
            </a:r>
            <a:r>
              <a:rPr lang="zh-CN" altLang="en-US" sz="1200" spc="15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技术自然度大幅提升</a:t>
            </a:r>
            <a:endParaRPr lang="en-US" altLang="zh-CN" sz="1200" spc="15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  <a:p>
            <a:pPr algn="r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1200" spc="150">
                <a:solidFill>
                  <a:schemeClr val="tx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支持多风格、情感化语音输出</a:t>
            </a:r>
            <a:endParaRPr lang="zh-CN" altLang="en-US" sz="1200" spc="150">
              <a:solidFill>
                <a:schemeClr val="tx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cxnSp>
        <p:nvCxnSpPr>
          <p:cNvPr id="51" name="直接箭头连接符 50"/>
          <p:cNvCxnSpPr/>
          <p:nvPr>
            <p:custDataLst>
              <p:tags r:id="rId9"/>
            </p:custDataLst>
          </p:nvPr>
        </p:nvCxnSpPr>
        <p:spPr>
          <a:xfrm>
            <a:off x="5687060" y="5394960"/>
            <a:ext cx="1970405" cy="0"/>
          </a:xfrm>
          <a:prstGeom prst="straightConnector1">
            <a:avLst/>
          </a:prstGeom>
          <a:ln>
            <a:headEnd type="oval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>
            <p:custDataLst>
              <p:tags r:id="rId10"/>
            </p:custDataLst>
          </p:nvPr>
        </p:nvSpPr>
        <p:spPr>
          <a:xfrm flipH="1">
            <a:off x="8271510" y="2430780"/>
            <a:ext cx="3158490" cy="398780"/>
          </a:xfrm>
          <a:prstGeom prst="rect">
            <a:avLst/>
          </a:prstGeom>
          <a:noFill/>
        </p:spPr>
        <p:txBody>
          <a:bodyPr wrap="square" bIns="0" rtlCol="0">
            <a:normAutofit/>
          </a:bodyPr>
          <a:p>
            <a:pPr algn="l"/>
            <a:r>
              <a:rPr lang="zh-CN" altLang="en-US" sz="2000" spc="300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多模态技术成熟</a:t>
            </a:r>
            <a:endParaRPr lang="zh-CN" altLang="en-US" sz="2000" spc="300">
              <a:solidFill>
                <a:schemeClr val="tx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11"/>
            </p:custDataLst>
          </p:nvPr>
        </p:nvSpPr>
        <p:spPr>
          <a:xfrm flipH="1">
            <a:off x="7590790" y="2915285"/>
            <a:ext cx="4301490" cy="1163955"/>
          </a:xfrm>
          <a:prstGeom prst="rect">
            <a:avLst/>
          </a:prstGeom>
          <a:noFill/>
        </p:spPr>
        <p:txBody>
          <a:bodyPr wrap="square" rtlCol="0">
            <a:normAutofit fontScale="25000"/>
          </a:bodyPr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4800" spc="150">
                <a:latin typeface="思源黑体 CN Regular" panose="020B0500000000000000" charset="-122"/>
                <a:ea typeface="思源黑体 CN Regular" panose="020B0500000000000000" charset="-122"/>
              </a:rPr>
              <a:t>CLIP实现图像-文本跨模态理解</a:t>
            </a:r>
            <a:endParaRPr lang="zh-CN" altLang="en-US" sz="4800" spc="150">
              <a:latin typeface="思源黑体 CN Regular" panose="020B0500000000000000" charset="-122"/>
              <a:ea typeface="思源黑体 CN Regular" panose="020B0500000000000000" charset="-122"/>
            </a:endParaRPr>
          </a:p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4800" spc="150">
                <a:latin typeface="思源黑体 CN Regular" panose="020B0500000000000000" charset="-122"/>
                <a:ea typeface="思源黑体 CN Regular" panose="020B0500000000000000" charset="-122"/>
              </a:rPr>
              <a:t>BLIP-2、LLaVA等模型在视觉问答上接近人类水平</a:t>
            </a:r>
            <a:endParaRPr lang="zh-CN" altLang="en-US" sz="4800" spc="150">
              <a:latin typeface="思源黑体 CN Regular" panose="020B0500000000000000" charset="-122"/>
              <a:ea typeface="思源黑体 CN Regular" panose="020B0500000000000000" charset="-122"/>
            </a:endParaRPr>
          </a:p>
          <a:p>
            <a:pPr algn="l" fontAlgn="auto">
              <a:lnSpc>
                <a:spcPct val="130000"/>
              </a:lnSpc>
              <a:spcAft>
                <a:spcPts val="1000"/>
              </a:spcAft>
            </a:pPr>
            <a:r>
              <a:rPr lang="zh-CN" altLang="en-US" sz="4800" spc="150">
                <a:latin typeface="思源黑体 CN Regular" panose="020B0500000000000000" charset="-122"/>
                <a:ea typeface="思源黑体 CN Regular" panose="020B0500000000000000" charset="-122"/>
              </a:rPr>
              <a:t>为"看图讲解"提供技术支撑</a:t>
            </a:r>
            <a:endParaRPr lang="zh-CN" altLang="en-US" sz="4800" spc="150">
              <a:latin typeface="思源黑体 CN Regular" panose="020B0500000000000000" charset="-122"/>
              <a:ea typeface="思源黑体 CN Regular" panose="020B0500000000000000" charset="-122"/>
            </a:endParaRPr>
          </a:p>
          <a:p>
            <a:pPr algn="l" fontAlgn="auto">
              <a:lnSpc>
                <a:spcPct val="130000"/>
              </a:lnSpc>
              <a:spcAft>
                <a:spcPts val="1000"/>
              </a:spcAft>
            </a:pPr>
            <a:endParaRPr lang="en-US" altLang="zh-CN" sz="1200" spc="150">
              <a:solidFill>
                <a:srgbClr val="000000">
                  <a:lumMod val="50000"/>
                  <a:lumOff val="50000"/>
                </a:srgb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  <a:p>
            <a:pPr algn="l" fontAlgn="auto">
              <a:lnSpc>
                <a:spcPct val="130000"/>
              </a:lnSpc>
              <a:spcAft>
                <a:spcPts val="1000"/>
              </a:spcAft>
            </a:pPr>
            <a:endParaRPr lang="en-US" altLang="zh-CN" sz="1200" spc="150">
              <a:solidFill>
                <a:srgbClr val="000000">
                  <a:lumMod val="50000"/>
                  <a:lumOff val="50000"/>
                </a:srgb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cxnSp>
        <p:nvCxnSpPr>
          <p:cNvPr id="60" name="直接箭头连接符 59"/>
          <p:cNvCxnSpPr/>
          <p:nvPr>
            <p:custDataLst>
              <p:tags r:id="rId12"/>
            </p:custDataLst>
          </p:nvPr>
        </p:nvCxnSpPr>
        <p:spPr>
          <a:xfrm flipH="1">
            <a:off x="8378190" y="2846705"/>
            <a:ext cx="1970405" cy="0"/>
          </a:xfrm>
          <a:prstGeom prst="straightConnector1">
            <a:avLst/>
          </a:prstGeom>
          <a:ln>
            <a:headEnd type="oval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4" name="图片 23" descr="343435383038363b343532323338393bbacfd7f7bbfad6c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682808" y="1500188"/>
            <a:ext cx="802640" cy="80264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25" name="图片 24" descr="343435383038363b343532323339323bc6b7c5c6b9dcc0ed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84658" y="1458913"/>
            <a:ext cx="751840" cy="75184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26" name="图片 25" descr="343435383036303b343532343134393bcdb7c4d4b7e7b1a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737543" y="3222943"/>
            <a:ext cx="750570" cy="75057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2195" y="3851275"/>
            <a:ext cx="1200150" cy="107442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297430" y="3851275"/>
            <a:ext cx="1189990" cy="112077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576070" y="4979035"/>
            <a:ext cx="1346200" cy="12490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775996" y="47155"/>
            <a:ext cx="8640008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一、课题背景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及研究目的与意义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9955" y="776605"/>
            <a:ext cx="3001010" cy="346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/>
              <a:t>3.</a:t>
            </a:r>
            <a:r>
              <a:rPr lang="zh-CN" altLang="en-US" sz="2000" b="1"/>
              <a:t>研究目的</a:t>
            </a:r>
            <a:r>
              <a:rPr lang="zh-CN" altLang="en-US" sz="2000" b="1"/>
              <a:t>与意义</a:t>
            </a:r>
            <a:endParaRPr lang="zh-CN" altLang="en-US" sz="2000" b="1"/>
          </a:p>
        </p:txBody>
      </p:sp>
      <p:grpSp>
        <p:nvGrpSpPr>
          <p:cNvPr id="35" name="组合 34" descr="7b0a202020202274657874626f78223a20227b5c2269645c223a32303334383533372c5c227469645c223a5c225c227d220a7d0a"/>
          <p:cNvGrpSpPr/>
          <p:nvPr/>
        </p:nvGrpSpPr>
        <p:grpSpPr>
          <a:xfrm>
            <a:off x="1186180" y="1257300"/>
            <a:ext cx="10235565" cy="4812665"/>
            <a:chOff x="3081338" y="2212656"/>
            <a:chExt cx="6038849" cy="3014665"/>
          </a:xfrm>
        </p:grpSpPr>
        <p:grpSp>
          <p:nvGrpSpPr>
            <p:cNvPr id="37" name="组合 36"/>
            <p:cNvGrpSpPr/>
            <p:nvPr/>
          </p:nvGrpSpPr>
          <p:grpSpPr>
            <a:xfrm>
              <a:off x="3081338" y="2212656"/>
              <a:ext cx="6038849" cy="3014665"/>
              <a:chOff x="3081338" y="2212656"/>
              <a:chExt cx="6038849" cy="3014665"/>
            </a:xfrm>
          </p:grpSpPr>
          <p:grpSp>
            <p:nvGrpSpPr>
              <p:cNvPr id="38" name="图形 37"/>
              <p:cNvGrpSpPr/>
              <p:nvPr/>
            </p:nvGrpSpPr>
            <p:grpSpPr>
              <a:xfrm>
                <a:off x="3267665" y="2403642"/>
                <a:ext cx="5657260" cy="2606508"/>
                <a:chOff x="0" y="0"/>
                <a:chExt cx="5274310" cy="2432685"/>
              </a:xfrm>
            </p:grpSpPr>
            <p:sp>
              <p:nvSpPr>
                <p:cNvPr id="40" name="任意多边形: 形状 11"/>
                <p:cNvSpPr/>
                <p:nvPr/>
              </p:nvSpPr>
              <p:spPr>
                <a:xfrm>
                  <a:off x="0" y="0"/>
                  <a:ext cx="5274310" cy="2432685"/>
                </a:xfrm>
                <a:custGeom>
                  <a:avLst/>
                  <a:gdLst>
                    <a:gd name="connsiteX0" fmla="*/ 0 w 5274310"/>
                    <a:gd name="connsiteY0" fmla="*/ 0 h 2432685"/>
                    <a:gd name="connsiteX1" fmla="*/ 5274310 w 5274310"/>
                    <a:gd name="connsiteY1" fmla="*/ 0 h 2432685"/>
                    <a:gd name="connsiteX2" fmla="*/ 5274310 w 5274310"/>
                    <a:gd name="connsiteY2" fmla="*/ 2432685 h 2432685"/>
                    <a:gd name="connsiteX3" fmla="*/ 0 w 5274310"/>
                    <a:gd name="connsiteY3" fmla="*/ 2432685 h 2432685"/>
                    <a:gd name="connsiteX4" fmla="*/ 0 w 5274310"/>
                    <a:gd name="connsiteY4" fmla="*/ 0 h 24326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74310" h="2432685">
                      <a:moveTo>
                        <a:pt x="0" y="0"/>
                      </a:moveTo>
                      <a:lnTo>
                        <a:pt x="5274310" y="0"/>
                      </a:lnTo>
                      <a:lnTo>
                        <a:pt x="5274310" y="2432685"/>
                      </a:lnTo>
                      <a:lnTo>
                        <a:pt x="0" y="243268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8868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任意多边形: 形状 12"/>
                <p:cNvSpPr/>
                <p:nvPr/>
              </p:nvSpPr>
              <p:spPr>
                <a:xfrm>
                  <a:off x="0" y="0"/>
                  <a:ext cx="5274310" cy="2432685"/>
                </a:xfrm>
                <a:custGeom>
                  <a:avLst/>
                  <a:gdLst>
                    <a:gd name="connsiteX0" fmla="*/ 0 w 5274310"/>
                    <a:gd name="connsiteY0" fmla="*/ 0 h 2432685"/>
                    <a:gd name="connsiteX1" fmla="*/ 5274310 w 5274310"/>
                    <a:gd name="connsiteY1" fmla="*/ 0 h 2432685"/>
                    <a:gd name="connsiteX2" fmla="*/ 5274310 w 5274310"/>
                    <a:gd name="connsiteY2" fmla="*/ 2432685 h 2432685"/>
                    <a:gd name="connsiteX3" fmla="*/ 0 w 5274310"/>
                    <a:gd name="connsiteY3" fmla="*/ 2432685 h 2432685"/>
                    <a:gd name="connsiteX4" fmla="*/ 0 w 5274310"/>
                    <a:gd name="connsiteY4" fmla="*/ 0 h 2432685"/>
                    <a:gd name="connsiteX5" fmla="*/ 17759 w 5274310"/>
                    <a:gd name="connsiteY5" fmla="*/ 17757 h 2432685"/>
                    <a:gd name="connsiteX6" fmla="*/ 17759 w 5274310"/>
                    <a:gd name="connsiteY6" fmla="*/ 2414928 h 2432685"/>
                    <a:gd name="connsiteX7" fmla="*/ 5256552 w 5274310"/>
                    <a:gd name="connsiteY7" fmla="*/ 2414928 h 2432685"/>
                    <a:gd name="connsiteX8" fmla="*/ 5256552 w 5274310"/>
                    <a:gd name="connsiteY8" fmla="*/ 17757 h 2432685"/>
                    <a:gd name="connsiteX9" fmla="*/ 17759 w 5274310"/>
                    <a:gd name="connsiteY9" fmla="*/ 17757 h 24326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5274310" h="2432685">
                      <a:moveTo>
                        <a:pt x="0" y="0"/>
                      </a:moveTo>
                      <a:lnTo>
                        <a:pt x="5274310" y="0"/>
                      </a:lnTo>
                      <a:lnTo>
                        <a:pt x="5274310" y="2432685"/>
                      </a:lnTo>
                      <a:lnTo>
                        <a:pt x="0" y="2432685"/>
                      </a:lnTo>
                      <a:lnTo>
                        <a:pt x="0" y="0"/>
                      </a:lnTo>
                      <a:close/>
                      <a:moveTo>
                        <a:pt x="17759" y="17757"/>
                      </a:moveTo>
                      <a:lnTo>
                        <a:pt x="17759" y="2414928"/>
                      </a:lnTo>
                      <a:lnTo>
                        <a:pt x="5256552" y="2414928"/>
                      </a:lnTo>
                      <a:lnTo>
                        <a:pt x="5256552" y="17757"/>
                      </a:lnTo>
                      <a:lnTo>
                        <a:pt x="17759" y="177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8868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7691437" y="4370071"/>
                <a:ext cx="1428750" cy="857250"/>
                <a:chOff x="7696200" y="4365308"/>
                <a:chExt cx="1428750" cy="857250"/>
              </a:xfrm>
            </p:grpSpPr>
            <p:sp>
              <p:nvSpPr>
                <p:cNvPr id="43" name="任意多边形: 形状 9"/>
                <p:cNvSpPr/>
                <p:nvPr/>
              </p:nvSpPr>
              <p:spPr>
                <a:xfrm rot="5400000">
                  <a:off x="8572497" y="4789170"/>
                  <a:ext cx="857250" cy="9525"/>
                </a:xfrm>
                <a:custGeom>
                  <a:avLst/>
                  <a:gdLst>
                    <a:gd name="connsiteX0" fmla="*/ -44 w 857250"/>
                    <a:gd name="connsiteY0" fmla="*/ 46 h 9525"/>
                    <a:gd name="connsiteX1" fmla="*/ 857206 w 857250"/>
                    <a:gd name="connsiteY1" fmla="*/ 46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57250" h="9525">
                      <a:moveTo>
                        <a:pt x="-44" y="46"/>
                      </a:moveTo>
                      <a:lnTo>
                        <a:pt x="857206" y="46"/>
                      </a:lnTo>
                    </a:path>
                  </a:pathLst>
                </a:custGeom>
                <a:ln w="1905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任意多边形: 形状 10"/>
                <p:cNvSpPr/>
                <p:nvPr/>
              </p:nvSpPr>
              <p:spPr>
                <a:xfrm>
                  <a:off x="7696200" y="5097302"/>
                  <a:ext cx="1428750" cy="9525"/>
                </a:xfrm>
                <a:custGeom>
                  <a:avLst/>
                  <a:gdLst>
                    <a:gd name="connsiteX0" fmla="*/ 0 w 1428750"/>
                    <a:gd name="connsiteY0" fmla="*/ 0 h 9525"/>
                    <a:gd name="connsiteX1" fmla="*/ 1428750 w 1428750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28750" h="9525">
                      <a:moveTo>
                        <a:pt x="0" y="0"/>
                      </a:moveTo>
                      <a:lnTo>
                        <a:pt x="1428750" y="0"/>
                      </a:lnTo>
                    </a:path>
                  </a:pathLst>
                </a:custGeom>
                <a:ln w="1905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 flipH="1" flipV="1">
                <a:off x="3081338" y="2212656"/>
                <a:ext cx="1428750" cy="857250"/>
                <a:chOff x="7696200" y="4365308"/>
                <a:chExt cx="1428750" cy="857250"/>
              </a:xfrm>
            </p:grpSpPr>
            <p:sp>
              <p:nvSpPr>
                <p:cNvPr id="46" name="任意多边形: 形状 7"/>
                <p:cNvSpPr/>
                <p:nvPr/>
              </p:nvSpPr>
              <p:spPr>
                <a:xfrm rot="5400000">
                  <a:off x="8572497" y="4789170"/>
                  <a:ext cx="857250" cy="9525"/>
                </a:xfrm>
                <a:custGeom>
                  <a:avLst/>
                  <a:gdLst>
                    <a:gd name="connsiteX0" fmla="*/ -44 w 857250"/>
                    <a:gd name="connsiteY0" fmla="*/ 46 h 9525"/>
                    <a:gd name="connsiteX1" fmla="*/ 857206 w 857250"/>
                    <a:gd name="connsiteY1" fmla="*/ 46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57250" h="9525">
                      <a:moveTo>
                        <a:pt x="-44" y="46"/>
                      </a:moveTo>
                      <a:lnTo>
                        <a:pt x="857206" y="46"/>
                      </a:lnTo>
                    </a:path>
                  </a:pathLst>
                </a:custGeom>
                <a:ln w="1905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" name="任意多边形: 形状 8"/>
                <p:cNvSpPr/>
                <p:nvPr/>
              </p:nvSpPr>
              <p:spPr>
                <a:xfrm>
                  <a:off x="7696200" y="5097302"/>
                  <a:ext cx="1428750" cy="9525"/>
                </a:xfrm>
                <a:custGeom>
                  <a:avLst/>
                  <a:gdLst>
                    <a:gd name="connsiteX0" fmla="*/ 0 w 1428750"/>
                    <a:gd name="connsiteY0" fmla="*/ 0 h 9525"/>
                    <a:gd name="connsiteX1" fmla="*/ 1428750 w 1428750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28750" h="9525">
                      <a:moveTo>
                        <a:pt x="0" y="0"/>
                      </a:moveTo>
                      <a:lnTo>
                        <a:pt x="1428750" y="0"/>
                      </a:lnTo>
                    </a:path>
                  </a:pathLst>
                </a:custGeom>
                <a:ln w="19050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48" name="文本框 47"/>
            <p:cNvSpPr txBox="1"/>
            <p:nvPr/>
          </p:nvSpPr>
          <p:spPr>
            <a:xfrm>
              <a:off x="3558000" y="2846362"/>
              <a:ext cx="5076000" cy="187062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algn="just">
                <a:lnSpc>
                  <a:spcPct val="170000"/>
                </a:lnSpc>
              </a:pPr>
              <a:r>
                <a:rPr lang="zh-CN" altLang="en-US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本课题旨在探索将多模态大语言模型（</a:t>
              </a:r>
              <a:r>
                <a:rPr lang="en-US" altLang="zh-CN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MMLM</a:t>
              </a:r>
              <a:r>
                <a:rPr lang="zh-CN" altLang="en-US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）引入语音导览领域，开发可实现展品图像识别、智能问答与语音讲解的导览助手。系统通过视觉</a:t>
              </a:r>
              <a:r>
                <a:rPr lang="en-US" altLang="zh-CN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—</a:t>
              </a:r>
              <a:r>
                <a:rPr lang="zh-CN" altLang="en-US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语言理解与语音合成技术，使参观者可拍照或提问后即时获得个性化讲解，实现从被动收听到主动互动的转变。</a:t>
              </a:r>
              <a:endParaRPr lang="zh-CN" altLang="en-US" dirty="0"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just">
                <a:lnSpc>
                  <a:spcPct val="170000"/>
                </a:lnSpc>
              </a:pPr>
              <a:r>
                <a:rPr lang="zh-CN" altLang="en-US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研究意义在于：一是推动多模态大模型在文化传播与教育场景中的落地，探索大模型垂直化应用的新路径；二是通过检索增强生成（</a:t>
              </a:r>
              <a:r>
                <a:rPr lang="en-US" altLang="zh-CN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RAG</a:t>
              </a:r>
              <a:r>
                <a:rPr lang="zh-CN" altLang="en-US" dirty="0">
                  <a:effectLst/>
                  <a:latin typeface="微软雅黑" panose="020B0503020204020204" charset="-122"/>
                  <a:ea typeface="微软雅黑" panose="020B0503020204020204" charset="-122"/>
                </a:rPr>
                <a:t>）机制实现知识库动态更新，显著降低内容维护成本；三是提升文化场馆的数字化与智慧化服务水平，促进人工智能技术与文博领域的深度融合，为文化传播创新与智慧文旅建设提供实践参考。</a:t>
              </a:r>
              <a:endParaRPr lang="zh-CN" altLang="en-US" dirty="0"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  <a:p>
              <a:endParaRPr lang="zh-CN" altLang="en-US" dirty="0"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2657997" y="2319934"/>
            <a:ext cx="897890" cy="89789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2657997" y="2650769"/>
            <a:ext cx="1557655" cy="15576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1000"/>
                </a:schemeClr>
              </a:gs>
              <a:gs pos="51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3053997" y="2924872"/>
            <a:ext cx="6084005" cy="1008256"/>
            <a:chOff x="4043304" y="2241962"/>
            <a:chExt cx="6084005" cy="1008256"/>
          </a:xfrm>
        </p:grpSpPr>
        <p:sp>
          <p:nvSpPr>
            <p:cNvPr id="47" name="文本框 46"/>
            <p:cNvSpPr txBox="1"/>
            <p:nvPr/>
          </p:nvSpPr>
          <p:spPr>
            <a:xfrm>
              <a:off x="5627303" y="2362240"/>
              <a:ext cx="450000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dirty="0">
                  <a:solidFill>
                    <a:srgbClr val="004E98"/>
                  </a:solidFill>
                  <a:uFillTx/>
                  <a:latin typeface="微软雅黑" panose="020B0503020204020204" charset="-122"/>
                  <a:ea typeface="微软雅黑" panose="020B0503020204020204" charset="-122"/>
                </a:rPr>
                <a:t>研究现状及分析</a:t>
              </a:r>
              <a:endParaRPr lang="zh-CN" altLang="en-US" sz="4800" b="1" dirty="0">
                <a:solidFill>
                  <a:srgbClr val="004E98"/>
                </a:solidFill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043304" y="2327815"/>
              <a:ext cx="171955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dirty="0">
                  <a:solidFill>
                    <a:srgbClr val="004E98"/>
                  </a:solidFill>
                  <a:latin typeface="微软雅黑" panose="020B0503020204020204" charset="-122"/>
                  <a:ea typeface="微软雅黑" panose="020B0503020204020204" charset="-122"/>
                </a:rPr>
                <a:t>二</a:t>
              </a:r>
              <a:endParaRPr lang="zh-CN" altLang="en-US" sz="4800" b="1" dirty="0">
                <a:solidFill>
                  <a:srgbClr val="004E9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51" name="直接连接符 50"/>
            <p:cNvCxnSpPr/>
            <p:nvPr/>
          </p:nvCxnSpPr>
          <p:spPr>
            <a:xfrm>
              <a:off x="5231751" y="2241962"/>
              <a:ext cx="0" cy="1008256"/>
            </a:xfrm>
            <a:prstGeom prst="line">
              <a:avLst/>
            </a:prstGeom>
            <a:ln w="19050">
              <a:solidFill>
                <a:srgbClr val="004E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642" y="0"/>
            <a:ext cx="1042358" cy="898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775996" y="47155"/>
            <a:ext cx="929129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、研究现状及分析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: 圆角 20"/>
          <p:cNvSpPr/>
          <p:nvPr>
            <p:custDataLst>
              <p:tags r:id="rId1"/>
            </p:custDataLst>
          </p:nvPr>
        </p:nvSpPr>
        <p:spPr>
          <a:xfrm>
            <a:off x="744220" y="774700"/>
            <a:ext cx="4302760" cy="4523105"/>
          </a:xfrm>
          <a:prstGeom prst="roundRect">
            <a:avLst>
              <a:gd name="adj" fmla="val 791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20000"/>
                  <a:lumOff val="80000"/>
                  <a:alpha val="10000"/>
                </a:schemeClr>
              </a:gs>
            </a:gsLst>
            <a:lin ang="5400000" scaled="0"/>
          </a:gradFill>
          <a:ln>
            <a:gradFill>
              <a:gsLst>
                <a:gs pos="20000">
                  <a:schemeClr val="accent1"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100000"/>
                  </a:schemeClr>
                </a:gs>
              </a:gsLst>
              <a:lin ang="16200000" scaled="1"/>
            </a:gradFill>
          </a:ln>
          <a:effectLst>
            <a:outerShdw blurRad="152400" dist="38100" dir="13500000" algn="br" rotWithShape="0">
              <a:schemeClr val="accent1">
                <a:lumMod val="75000"/>
                <a:alpha val="7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360045" tIns="360045" rIns="288290" bIns="360045" numCol="1" spcCol="0" rtlCol="0" fromWordArt="0" anchor="b" anchorCtr="1" forceAA="0" compatLnSpc="1">
            <a:noAutofit/>
          </a:bodyPr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1600" kern="0" dirty="0">
              <a:ln>
                <a:noFill/>
                <a:prstDash val="sysDot"/>
              </a:ln>
              <a:solidFill>
                <a:srgbClr val="292929"/>
              </a:solidFill>
              <a:latin typeface="+mn-ea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988695" y="915988"/>
            <a:ext cx="2852420" cy="7981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国内研究</a:t>
            </a: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现状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3"/>
            </p:custDataLst>
          </p:nvPr>
        </p:nvCxnSpPr>
        <p:spPr>
          <a:xfrm>
            <a:off x="1021715" y="1742758"/>
            <a:ext cx="278640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80000"/>
                  </a:schemeClr>
                </a:gs>
              </a:gsLst>
              <a:lin ang="10800000" scaled="1"/>
            </a:gradFill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989330" y="1899285"/>
            <a:ext cx="4030345" cy="3107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早期聚焦电子导览的接受度与体验优化，系统多为预录音频，缺乏实时交互能力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中文大模型推进语义理解：文心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ERNIE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、通义千问、星火认知等持续演进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多模态模型增强视觉问答：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CogVLM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与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InternVL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等提升图文语义对齐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语音合成进步：多方言识别与情感语音合成带来更自然的播报体验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总体趋势：从语音服务向多模态交互式智能系统过渡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6" name="矩形: 圆角 20"/>
          <p:cNvSpPr/>
          <p:nvPr>
            <p:custDataLst>
              <p:tags r:id="rId5"/>
            </p:custDataLst>
          </p:nvPr>
        </p:nvSpPr>
        <p:spPr>
          <a:xfrm>
            <a:off x="7163435" y="786765"/>
            <a:ext cx="4297045" cy="4523105"/>
          </a:xfrm>
          <a:prstGeom prst="roundRect">
            <a:avLst>
              <a:gd name="adj" fmla="val 8073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100000">
                <a:schemeClr val="accent1">
                  <a:alpha val="100000"/>
                </a:schemeClr>
              </a:gs>
              <a:gs pos="0">
                <a:schemeClr val="accent1">
                  <a:lumMod val="20000"/>
                  <a:lumOff val="80000"/>
                  <a:alpha val="10000"/>
                </a:schemeClr>
              </a:gs>
            </a:gsLst>
            <a:lin ang="5400000" scaled="0"/>
          </a:gradFill>
          <a:ln>
            <a:gradFill>
              <a:gsLst>
                <a:gs pos="20000">
                  <a:schemeClr val="accent1">
                    <a:alpha val="0"/>
                  </a:schemeClr>
                </a:gs>
                <a:gs pos="100000">
                  <a:schemeClr val="accent1">
                    <a:lumMod val="60000"/>
                    <a:lumOff val="40000"/>
                    <a:alpha val="100000"/>
                  </a:schemeClr>
                </a:gs>
              </a:gsLst>
              <a:lin ang="16200000" scaled="1"/>
            </a:gradFill>
          </a:ln>
          <a:effectLst>
            <a:outerShdw blurRad="152400" dist="38100" dir="13500000" algn="br" rotWithShape="0">
              <a:schemeClr val="accent1">
                <a:lumMod val="75000"/>
                <a:alpha val="7000"/>
              </a:scheme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360045" tIns="360045" rIns="288290" bIns="360045" numCol="1" spcCol="0" rtlCol="0" fromWordArt="0" anchor="b" anchorCtr="1" forceAA="0" compatLnSpc="1">
            <a:noAutofit/>
          </a:bodyPr>
          <a:p>
            <a:pPr lv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 sz="1600" kern="0" dirty="0">
              <a:ln>
                <a:noFill/>
                <a:prstDash val="sysDot"/>
              </a:ln>
              <a:solidFill>
                <a:srgbClr val="292929"/>
              </a:solidFill>
              <a:latin typeface="+mn-ea"/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8364220" y="915988"/>
            <a:ext cx="2851200" cy="7981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lvl="0" algn="r">
              <a:lnSpc>
                <a:spcPct val="120000"/>
              </a:lnSpc>
              <a:buClrTx/>
              <a:buSzTx/>
              <a:buFontTx/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国外</a:t>
            </a: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研究现状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7"/>
            </p:custDataLst>
          </p:nvPr>
        </p:nvCxnSpPr>
        <p:spPr>
          <a:xfrm flipH="1">
            <a:off x="8428990" y="1728788"/>
            <a:ext cx="2786400" cy="0"/>
          </a:xfrm>
          <a:prstGeom prst="line">
            <a:avLst/>
          </a:prstGeom>
          <a:ln>
            <a:gradFill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80000"/>
                  </a:schemeClr>
                </a:gs>
              </a:gsLst>
              <a:lin ang="10800000" scaled="1"/>
            </a:gradFill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7364730" y="1899285"/>
            <a:ext cx="4069080" cy="3107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概念与系统：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Smart Museum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、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5G-TOURS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机器人导览与多媒体增强模型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通用与多模态前沿：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GPT-4/GPT-4V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、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Gemini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、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Flamingo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、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LLaVA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、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BLIP-2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等扩展视觉语言能力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语音合成：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FastSpeech 2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在自然度、语调与实时性方面表现优异</a:t>
            </a:r>
            <a:endParaRPr lang="en-US" altLang="zh-CN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总体特点：架构与语义理解领先，但在文博领域知识适配与专业表达不足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pic>
        <p:nvPicPr>
          <p:cNvPr id="23" name="图片 22" descr="中国结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56230" y="889635"/>
            <a:ext cx="956310" cy="956310"/>
          </a:xfrm>
          <a:prstGeom prst="rect">
            <a:avLst/>
          </a:prstGeom>
        </p:spPr>
      </p:pic>
      <p:pic>
        <p:nvPicPr>
          <p:cNvPr id="24" name="图片 23" descr="地球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64220" y="916305"/>
            <a:ext cx="783590" cy="783590"/>
          </a:xfrm>
          <a:prstGeom prst="rect">
            <a:avLst/>
          </a:prstGeom>
        </p:spPr>
      </p:pic>
      <p:grpSp>
        <p:nvGrpSpPr>
          <p:cNvPr id="41" name="组合 40" descr="7b0a202020202274657874626f78223a20227b5c2269645c223a32303334383535302c5c227469645c223a5c225c227d220a7d0a"/>
          <p:cNvGrpSpPr/>
          <p:nvPr/>
        </p:nvGrpSpPr>
        <p:grpSpPr>
          <a:xfrm>
            <a:off x="1770514" y="5006331"/>
            <a:ext cx="9649961" cy="1106179"/>
            <a:chOff x="2887" y="3063"/>
            <a:chExt cx="10965" cy="4458"/>
          </a:xfrm>
        </p:grpSpPr>
        <p:sp>
          <p:nvSpPr>
            <p:cNvPr id="42" name="圆角矩形 7"/>
            <p:cNvSpPr/>
            <p:nvPr/>
          </p:nvSpPr>
          <p:spPr>
            <a:xfrm>
              <a:off x="2887" y="3063"/>
              <a:ext cx="10965" cy="4458"/>
            </a:xfrm>
            <a:prstGeom prst="roundRect">
              <a:avLst>
                <a:gd name="adj" fmla="val 4703"/>
              </a:avLst>
            </a:prstGeom>
            <a:noFill/>
            <a:ln w="6350">
              <a:solidFill>
                <a:srgbClr val="4472C4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3F6FC"/>
                  </a:solidFill>
                </a14:hiddenFill>
              </a:ext>
            </a:ex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2994" y="3452"/>
              <a:ext cx="10752" cy="3475"/>
            </a:xfrm>
            <a:prstGeom prst="rect">
              <a:avLst/>
            </a:prstGeom>
            <a:noFill/>
          </p:spPr>
          <p:txBody>
            <a:bodyPr wrap="square" rtlCol="0" anchor="ctr" anchorCtr="0"/>
            <a:p>
              <a:pPr indent="0" algn="just" font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总体分析：</a:t>
              </a:r>
              <a:endPara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indent="0" algn="just" font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发展趋势:内容预录 → 智能问答 → 多模态讲解</a:t>
              </a:r>
              <a:r>
                <a:rPr lang="en-US" altLang="zh-CN" sz="1400" dirty="0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  	 </a:t>
              </a:r>
              <a:r>
                <a:rPr lang="zh-CN" altLang="en-US" sz="1400" dirty="0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技术路径:RAG机制 + LoRA微调 + 多模态融合 + TTS语音研究空白:通用模型在文博垂直领域的知识适配与专业表达不足</a:t>
              </a:r>
              <a:endParaRPr lang="zh-CN" altLang="en-US" sz="1400" dirty="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2825530" y="2319934"/>
            <a:ext cx="897890" cy="89789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2825530" y="2650769"/>
            <a:ext cx="1557655" cy="15576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1000"/>
                </a:schemeClr>
              </a:gs>
              <a:gs pos="51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3185530" y="2924872"/>
            <a:ext cx="7686690" cy="1008256"/>
            <a:chOff x="4043304" y="2241962"/>
            <a:chExt cx="7686690" cy="1008256"/>
          </a:xfrm>
        </p:grpSpPr>
        <p:sp>
          <p:nvSpPr>
            <p:cNvPr id="47" name="文本框 46"/>
            <p:cNvSpPr txBox="1"/>
            <p:nvPr/>
          </p:nvSpPr>
          <p:spPr>
            <a:xfrm>
              <a:off x="5447304" y="2361977"/>
              <a:ext cx="628269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dirty="0">
                  <a:solidFill>
                    <a:srgbClr val="004E98"/>
                  </a:solidFill>
                  <a:latin typeface="微软雅黑" panose="020B0503020204020204" charset="-122"/>
                  <a:ea typeface="微软雅黑" panose="020B0503020204020204" charset="-122"/>
                </a:rPr>
                <a:t>研究内容及研究方案</a:t>
              </a:r>
              <a:endParaRPr lang="zh-CN" altLang="en-US" sz="4800" b="1" dirty="0">
                <a:solidFill>
                  <a:srgbClr val="004E9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043304" y="2327815"/>
              <a:ext cx="171955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dirty="0">
                  <a:solidFill>
                    <a:srgbClr val="004E98"/>
                  </a:solidFill>
                  <a:latin typeface="微软雅黑" panose="020B0503020204020204" charset="-122"/>
                  <a:ea typeface="微软雅黑" panose="020B0503020204020204" charset="-122"/>
                </a:rPr>
                <a:t>三</a:t>
              </a:r>
              <a:endParaRPr lang="zh-CN" altLang="en-US" sz="4800" b="1" dirty="0">
                <a:solidFill>
                  <a:srgbClr val="004E9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51" name="直接连接符 50"/>
            <p:cNvCxnSpPr/>
            <p:nvPr/>
          </p:nvCxnSpPr>
          <p:spPr>
            <a:xfrm>
              <a:off x="5231751" y="2241962"/>
              <a:ext cx="0" cy="1008256"/>
            </a:xfrm>
            <a:prstGeom prst="line">
              <a:avLst/>
            </a:prstGeom>
            <a:ln w="19050">
              <a:solidFill>
                <a:srgbClr val="004E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642" y="0"/>
            <a:ext cx="1042358" cy="898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775996" y="47155"/>
            <a:ext cx="8640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zh-CN" altLang="en-US" sz="3200" b="1" i="0" kern="1200" cap="none" spc="0" normalizeH="0" baseline="0" noProof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三、研究内容及研究方案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67860" y="955675"/>
            <a:ext cx="4330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1.</a:t>
            </a:r>
            <a:r>
              <a:rPr lang="zh-CN" altLang="en-US" sz="2400" b="1"/>
              <a:t>语音导览助手系统流程图</a:t>
            </a:r>
            <a:endParaRPr lang="zh-CN" altLang="en-US" sz="2400" b="1"/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70" y="1591945"/>
            <a:ext cx="10697845" cy="43002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775996" y="47155"/>
            <a:ext cx="8640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zh-CN" altLang="en-US" sz="3200" b="1" i="0" kern="1200" cap="none" spc="0" normalizeH="0" baseline="0" noProof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三、研究内容及研究方案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0" name="直接连接符 49"/>
          <p:cNvCxnSpPr/>
          <p:nvPr>
            <p:custDataLst>
              <p:tags r:id="rId1"/>
            </p:custDataLst>
          </p:nvPr>
        </p:nvCxnSpPr>
        <p:spPr>
          <a:xfrm>
            <a:off x="1689735" y="5344478"/>
            <a:ext cx="381635" cy="0"/>
          </a:xfrm>
          <a:prstGeom prst="line">
            <a:avLst/>
          </a:prstGeom>
          <a:ln w="44450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圆角矩形 59"/>
          <p:cNvSpPr/>
          <p:nvPr>
            <p:custDataLst>
              <p:tags r:id="rId2"/>
            </p:custDataLst>
          </p:nvPr>
        </p:nvSpPr>
        <p:spPr>
          <a:xfrm>
            <a:off x="588645" y="1530033"/>
            <a:ext cx="2584450" cy="4013835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819785" y="2549208"/>
            <a:ext cx="2240915" cy="233553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・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收集目标场馆展品资料（名称、年代、材质、出土背景、学术研究等）。</a:t>
            </a:r>
            <a:endParaRPr lang="en-US" altLang="zh-CN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・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对文本进行结构化清洗与标准化标注，形成语义一致的数据集。</a:t>
            </a:r>
            <a:endParaRPr lang="en-US" altLang="zh-CN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・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使用文本嵌入模型生成语义向量，存入向量数据库，支持高效语义检索。</a:t>
            </a:r>
            <a:endParaRPr lang="zh-CN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756285" y="2106613"/>
            <a:ext cx="2249170" cy="4425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1"/>
                </a:solidFill>
                <a:latin typeface="+mn-ea"/>
                <a:cs typeface="+mn-ea"/>
              </a:rPr>
              <a:t>文物知识库构建与向量化存储</a:t>
            </a:r>
            <a:endParaRPr lang="zh-CN" altLang="en-US" sz="20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sp>
        <p:nvSpPr>
          <p:cNvPr id="67" name="椭圆 66"/>
          <p:cNvSpPr/>
          <p:nvPr>
            <p:custDataLst>
              <p:tags r:id="rId5"/>
            </p:custDataLst>
          </p:nvPr>
        </p:nvSpPr>
        <p:spPr>
          <a:xfrm>
            <a:off x="1497965" y="1119188"/>
            <a:ext cx="765175" cy="765175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8" name="椭圆 67"/>
          <p:cNvSpPr/>
          <p:nvPr>
            <p:custDataLst>
              <p:tags r:id="rId6"/>
            </p:custDataLst>
          </p:nvPr>
        </p:nvSpPr>
        <p:spPr>
          <a:xfrm>
            <a:off x="1524000" y="1118553"/>
            <a:ext cx="713105" cy="713105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46" name="直接连接符 45"/>
          <p:cNvCxnSpPr/>
          <p:nvPr>
            <p:custDataLst>
              <p:tags r:id="rId7"/>
            </p:custDataLst>
          </p:nvPr>
        </p:nvCxnSpPr>
        <p:spPr>
          <a:xfrm>
            <a:off x="4412616" y="5344478"/>
            <a:ext cx="381635" cy="0"/>
          </a:xfrm>
          <a:prstGeom prst="line">
            <a:avLst/>
          </a:prstGeom>
          <a:ln w="44450" cap="rnd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圆角矩形 60"/>
          <p:cNvSpPr/>
          <p:nvPr>
            <p:custDataLst>
              <p:tags r:id="rId8"/>
            </p:custDataLst>
          </p:nvPr>
        </p:nvSpPr>
        <p:spPr>
          <a:xfrm>
            <a:off x="3310891" y="1530033"/>
            <a:ext cx="2584450" cy="4013835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4" name="椭圆 73"/>
          <p:cNvSpPr/>
          <p:nvPr>
            <p:custDataLst>
              <p:tags r:id="rId9"/>
            </p:custDataLst>
          </p:nvPr>
        </p:nvSpPr>
        <p:spPr>
          <a:xfrm>
            <a:off x="4220846" y="1119188"/>
            <a:ext cx="765175" cy="765175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5" name="椭圆 74"/>
          <p:cNvSpPr/>
          <p:nvPr>
            <p:custDataLst>
              <p:tags r:id="rId10"/>
            </p:custDataLst>
          </p:nvPr>
        </p:nvSpPr>
        <p:spPr>
          <a:xfrm>
            <a:off x="4246881" y="1118553"/>
            <a:ext cx="713105" cy="713105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7" name="矩形 6"/>
          <p:cNvSpPr/>
          <p:nvPr>
            <p:custDataLst>
              <p:tags r:id="rId11"/>
            </p:custDataLst>
          </p:nvPr>
        </p:nvSpPr>
        <p:spPr>
          <a:xfrm>
            <a:off x="3486786" y="2549208"/>
            <a:ext cx="2240915" cy="233553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・</a:t>
            </a: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选用预训练多模态模型（</a:t>
            </a:r>
            <a:r>
              <a:rPr lang="en-US" altLang="zh-CN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BLIP-2</a:t>
            </a: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）作为核心生成模块。</a:t>
            </a:r>
            <a:endParaRPr lang="zh-CN" altLang="en-US" sz="12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・</a:t>
            </a: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结合</a:t>
            </a:r>
            <a:r>
              <a:rPr lang="en-US" altLang="zh-CN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RAG</a:t>
            </a: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机制：当用户上传图像或提出问题时，从知识库中检索相关内容，动态构造提示词（</a:t>
            </a:r>
            <a:r>
              <a:rPr lang="en-US" altLang="zh-CN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Prompt</a:t>
            </a: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）。</a:t>
            </a:r>
            <a:endParaRPr lang="en-US" altLang="zh-CN" sz="12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・</a:t>
            </a:r>
            <a:r>
              <a:rPr lang="zh-CN" altLang="en-US" sz="12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模型基于图像理解与文本上下文生成讲解内容，确保输出的准确性与可解释性。</a:t>
            </a:r>
            <a:endParaRPr lang="zh-CN" altLang="en-US" sz="12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>
            <p:custDataLst>
              <p:tags r:id="rId12"/>
            </p:custDataLst>
          </p:nvPr>
        </p:nvSpPr>
        <p:spPr>
          <a:xfrm>
            <a:off x="3478531" y="2106613"/>
            <a:ext cx="2249170" cy="4425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2"/>
                </a:solidFill>
                <a:latin typeface="+mn-ea"/>
                <a:cs typeface="+mn-ea"/>
              </a:rPr>
              <a:t>多模态大模型集成与</a:t>
            </a:r>
            <a:r>
              <a:rPr lang="en-US" altLang="zh-CN" sz="2000" b="1" kern="0">
                <a:solidFill>
                  <a:schemeClr val="accent2"/>
                </a:solidFill>
                <a:latin typeface="+mn-ea"/>
                <a:cs typeface="+mn-ea"/>
              </a:rPr>
              <a:t>RAG</a:t>
            </a:r>
            <a:endParaRPr lang="en-US" altLang="zh-CN" sz="2000" b="1" kern="0">
              <a:solidFill>
                <a:schemeClr val="accent2"/>
              </a:solidFill>
              <a:latin typeface="+mn-ea"/>
              <a:cs typeface="+mn-ea"/>
            </a:endParaRPr>
          </a:p>
        </p:txBody>
      </p:sp>
      <p:cxnSp>
        <p:nvCxnSpPr>
          <p:cNvPr id="51" name="直接连接符 50"/>
          <p:cNvCxnSpPr/>
          <p:nvPr>
            <p:custDataLst>
              <p:tags r:id="rId13"/>
            </p:custDataLst>
          </p:nvPr>
        </p:nvCxnSpPr>
        <p:spPr>
          <a:xfrm>
            <a:off x="7134861" y="5344478"/>
            <a:ext cx="381635" cy="0"/>
          </a:xfrm>
          <a:prstGeom prst="line">
            <a:avLst/>
          </a:prstGeom>
          <a:ln w="44450" cap="rnd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圆角矩形 61"/>
          <p:cNvSpPr/>
          <p:nvPr>
            <p:custDataLst>
              <p:tags r:id="rId14"/>
            </p:custDataLst>
          </p:nvPr>
        </p:nvSpPr>
        <p:spPr>
          <a:xfrm>
            <a:off x="6033136" y="1530033"/>
            <a:ext cx="2584450" cy="4013835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0" name="椭圆 79"/>
          <p:cNvSpPr/>
          <p:nvPr>
            <p:custDataLst>
              <p:tags r:id="rId15"/>
            </p:custDataLst>
          </p:nvPr>
        </p:nvSpPr>
        <p:spPr>
          <a:xfrm>
            <a:off x="6943091" y="1119188"/>
            <a:ext cx="765175" cy="765175"/>
          </a:xfrm>
          <a:prstGeom prst="ellipse">
            <a:avLst/>
          </a:prstGeom>
          <a:solidFill>
            <a:schemeClr val="accent1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1" name="椭圆 80"/>
          <p:cNvSpPr/>
          <p:nvPr>
            <p:custDataLst>
              <p:tags r:id="rId16"/>
            </p:custDataLst>
          </p:nvPr>
        </p:nvSpPr>
        <p:spPr>
          <a:xfrm>
            <a:off x="6969126" y="1118553"/>
            <a:ext cx="713105" cy="713105"/>
          </a:xfrm>
          <a:prstGeom prst="ellipse">
            <a:avLst/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矩形 8"/>
          <p:cNvSpPr/>
          <p:nvPr>
            <p:custDataLst>
              <p:tags r:id="rId17"/>
            </p:custDataLst>
          </p:nvPr>
        </p:nvSpPr>
        <p:spPr>
          <a:xfrm>
            <a:off x="6209031" y="2549208"/>
            <a:ext cx="2240915" cy="233553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・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构建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“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展品图像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–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讲解文本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”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配对数据集，用于有监督微调。</a:t>
            </a:r>
            <a:endParaRPr lang="en-US" altLang="zh-CN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・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采用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LoRA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等参数高效微调技术，对视觉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-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语言模型进行领域适配。</a:t>
            </a:r>
            <a:endParaRPr lang="zh-CN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・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通过评估指标（如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Top-1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识别率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≥70%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、知识型问答准确率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≥80%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）验证模型性能。</a:t>
            </a:r>
            <a:endParaRPr lang="zh-CN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8"/>
            </p:custDataLst>
          </p:nvPr>
        </p:nvSpPr>
        <p:spPr>
          <a:xfrm>
            <a:off x="6099810" y="1884680"/>
            <a:ext cx="2451100" cy="4425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1"/>
                </a:solidFill>
                <a:latin typeface="+mn-ea"/>
                <a:cs typeface="+mn-ea"/>
              </a:rPr>
              <a:t>视觉问答与模型微调</a:t>
            </a:r>
            <a:endParaRPr lang="zh-CN" altLang="en-US" sz="2000" b="1" kern="0">
              <a:solidFill>
                <a:schemeClr val="accent1"/>
              </a:solidFill>
              <a:latin typeface="+mn-ea"/>
              <a:cs typeface="+mn-ea"/>
            </a:endParaRPr>
          </a:p>
        </p:txBody>
      </p:sp>
      <p:cxnSp>
        <p:nvCxnSpPr>
          <p:cNvPr id="55" name="直接连接符 54"/>
          <p:cNvCxnSpPr/>
          <p:nvPr>
            <p:custDataLst>
              <p:tags r:id="rId19"/>
            </p:custDataLst>
          </p:nvPr>
        </p:nvCxnSpPr>
        <p:spPr>
          <a:xfrm>
            <a:off x="9857106" y="5344478"/>
            <a:ext cx="381635" cy="0"/>
          </a:xfrm>
          <a:prstGeom prst="line">
            <a:avLst/>
          </a:prstGeom>
          <a:ln w="44450" cap="rnd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圆角矩形 62"/>
          <p:cNvSpPr/>
          <p:nvPr>
            <p:custDataLst>
              <p:tags r:id="rId20"/>
            </p:custDataLst>
          </p:nvPr>
        </p:nvSpPr>
        <p:spPr>
          <a:xfrm>
            <a:off x="8755381" y="1530033"/>
            <a:ext cx="2584450" cy="4013835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6" name="椭圆 85"/>
          <p:cNvSpPr/>
          <p:nvPr>
            <p:custDataLst>
              <p:tags r:id="rId21"/>
            </p:custDataLst>
          </p:nvPr>
        </p:nvSpPr>
        <p:spPr>
          <a:xfrm>
            <a:off x="9665336" y="1119188"/>
            <a:ext cx="765175" cy="765175"/>
          </a:xfrm>
          <a:prstGeom prst="ellipse">
            <a:avLst/>
          </a:prstGeom>
          <a:solidFill>
            <a:schemeClr val="accent2">
              <a:alpha val="15000"/>
            </a:schemeClr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7" name="椭圆 86"/>
          <p:cNvSpPr/>
          <p:nvPr>
            <p:custDataLst>
              <p:tags r:id="rId22"/>
            </p:custDataLst>
          </p:nvPr>
        </p:nvSpPr>
        <p:spPr>
          <a:xfrm>
            <a:off x="9691371" y="1118553"/>
            <a:ext cx="713105" cy="713105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12" name="矩形 11"/>
          <p:cNvSpPr/>
          <p:nvPr>
            <p:custDataLst>
              <p:tags r:id="rId23"/>
            </p:custDataLst>
          </p:nvPr>
        </p:nvSpPr>
        <p:spPr>
          <a:xfrm>
            <a:off x="8923021" y="2549208"/>
            <a:ext cx="2240915" cy="233553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・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调用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FastSpeech 2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等神经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TTS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模型，将讲解文本转换为自然语音。</a:t>
            </a:r>
            <a:endParaRPr lang="en-US" altLang="zh-CN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・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优化语速、语调与情感风格，实现沉浸式听觉体验。</a:t>
            </a:r>
            <a:endParaRPr lang="en-US" altLang="zh-CN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ja-JP" altLang="en-US" sz="12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・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前端实现图像上传、语音播放与多轮交互界面。</a:t>
            </a:r>
            <a:endParaRPr lang="zh-CN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24"/>
            </p:custDataLst>
          </p:nvPr>
        </p:nvSpPr>
        <p:spPr>
          <a:xfrm>
            <a:off x="8923021" y="2106613"/>
            <a:ext cx="2249170" cy="44259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kern="0">
                <a:solidFill>
                  <a:schemeClr val="accent2"/>
                </a:solidFill>
                <a:latin typeface="+mn-ea"/>
                <a:cs typeface="+mn-ea"/>
              </a:rPr>
              <a:t>语音讲解输出与系统交互</a:t>
            </a:r>
            <a:endParaRPr lang="zh-CN" altLang="en-US" sz="2000" b="1" kern="0">
              <a:solidFill>
                <a:schemeClr val="accent2"/>
              </a:solidFill>
              <a:latin typeface="+mn-ea"/>
              <a:cs typeface="+mn-ea"/>
            </a:endParaRPr>
          </a:p>
        </p:txBody>
      </p:sp>
      <p:pic>
        <p:nvPicPr>
          <p:cNvPr id="31" name="图形 30" descr="333438303937363b333438313038303bd7e9d6afbcdcb9b9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736090" y="1331278"/>
            <a:ext cx="288290" cy="288290"/>
          </a:xfrm>
          <a:prstGeom prst="rect">
            <a:avLst/>
          </a:prstGeom>
        </p:spPr>
      </p:pic>
      <p:pic>
        <p:nvPicPr>
          <p:cNvPr id="32" name="图形 31" descr="333438303937363b333438313039323bcfeec4bfbcc6bbae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441191" y="1312863"/>
            <a:ext cx="323850" cy="323850"/>
          </a:xfrm>
          <a:prstGeom prst="rect">
            <a:avLst/>
          </a:prstGeom>
        </p:spPr>
      </p:pic>
      <p:pic>
        <p:nvPicPr>
          <p:cNvPr id="33" name="图形 32" descr="333438303937363b333438313037333bcad0b3a1bebad5f9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163436" y="1312863"/>
            <a:ext cx="323850" cy="323850"/>
          </a:xfrm>
          <a:prstGeom prst="rect">
            <a:avLst/>
          </a:prstGeom>
        </p:spPr>
      </p:pic>
      <p:pic>
        <p:nvPicPr>
          <p:cNvPr id="34" name="图形 33" descr="333438303937363b333438313038383bcfeec4bfd0a7c2ca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885681" y="1312863"/>
            <a:ext cx="323850" cy="32385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95960" y="68516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2.</a:t>
            </a:r>
            <a:r>
              <a:rPr lang="zh-CN" altLang="en-US" sz="2400" b="1"/>
              <a:t>研究内容</a:t>
            </a:r>
            <a:r>
              <a:rPr lang="zh-CN" altLang="en-US" sz="2400" b="1"/>
              <a:t>及方案</a:t>
            </a:r>
            <a:endParaRPr lang="zh-CN" altLang="en-US" sz="2400" b="1"/>
          </a:p>
        </p:txBody>
      </p:sp>
      <p:sp>
        <p:nvSpPr>
          <p:cNvPr id="2" name="文本框 1"/>
          <p:cNvSpPr txBox="1"/>
          <p:nvPr/>
        </p:nvSpPr>
        <p:spPr>
          <a:xfrm>
            <a:off x="1083310" y="5602605"/>
            <a:ext cx="107492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最后完成多模块（前端、知识库、模型、语音模块）的接口联调与优化；设计多维度实验指标；</a:t>
            </a:r>
            <a:endParaRPr lang="en-US" altLang="zh-CN"/>
          </a:p>
          <a:p>
            <a:r>
              <a:rPr lang="zh-CN" altLang="en-US"/>
              <a:t>在真实场馆数据集上进行系统测试与用户体验评估。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775996" y="47155"/>
            <a:ext cx="8640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三、研究内容及研究方案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95960" y="68516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3.</a:t>
            </a:r>
            <a:r>
              <a:rPr lang="zh-CN" altLang="en-US" sz="2400" b="1"/>
              <a:t>创新与方案特色</a:t>
            </a:r>
            <a:endParaRPr lang="zh-CN" altLang="en-US" sz="2400" b="1"/>
          </a:p>
        </p:txBody>
      </p:sp>
      <p:sp>
        <p:nvSpPr>
          <p:cNvPr id="55" name="矩形 54"/>
          <p:cNvSpPr/>
          <p:nvPr>
            <p:custDataLst>
              <p:tags r:id="rId1"/>
            </p:custDataLst>
          </p:nvPr>
        </p:nvSpPr>
        <p:spPr>
          <a:xfrm>
            <a:off x="885188" y="1834832"/>
            <a:ext cx="2985024" cy="3987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领域融合创新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6" name="矩形 55"/>
          <p:cNvSpPr/>
          <p:nvPr>
            <p:custDataLst>
              <p:tags r:id="rId2"/>
            </p:custDataLst>
          </p:nvPr>
        </p:nvSpPr>
        <p:spPr>
          <a:xfrm>
            <a:off x="675640" y="2319655"/>
            <a:ext cx="3194685" cy="11099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将多模态大模型（</a:t>
            </a:r>
            <a:r>
              <a:rPr lang="en-US" altLang="zh-CN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MLLM</a:t>
            </a: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）与语音导览场景结合，实现展品识别、知识检索与语音讲解的一体化流程。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57" name="直接箭头连接符 56"/>
          <p:cNvCxnSpPr/>
          <p:nvPr>
            <p:custDataLst>
              <p:tags r:id="rId3"/>
            </p:custDataLst>
          </p:nvPr>
        </p:nvCxnSpPr>
        <p:spPr>
          <a:xfrm>
            <a:off x="1899919" y="2250758"/>
            <a:ext cx="1970405" cy="0"/>
          </a:xfrm>
          <a:prstGeom prst="straightConnector1">
            <a:avLst/>
          </a:prstGeom>
          <a:ln w="12700"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泪滴形 57"/>
          <p:cNvSpPr/>
          <p:nvPr>
            <p:custDataLst>
              <p:tags r:id="rId4"/>
            </p:custDataLst>
          </p:nvPr>
        </p:nvSpPr>
        <p:spPr>
          <a:xfrm flipH="1">
            <a:off x="4100829" y="1668462"/>
            <a:ext cx="1682115" cy="1682115"/>
          </a:xfrm>
          <a:prstGeom prst="teardrop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9" name="泪滴形 58"/>
          <p:cNvSpPr/>
          <p:nvPr>
            <p:custDataLst>
              <p:tags r:id="rId5"/>
            </p:custDataLst>
          </p:nvPr>
        </p:nvSpPr>
        <p:spPr>
          <a:xfrm>
            <a:off x="6177279" y="1668462"/>
            <a:ext cx="1682115" cy="1682115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0" name="泪滴形 59"/>
          <p:cNvSpPr/>
          <p:nvPr>
            <p:custDataLst>
              <p:tags r:id="rId6"/>
            </p:custDataLst>
          </p:nvPr>
        </p:nvSpPr>
        <p:spPr>
          <a:xfrm rot="16200000" flipH="1">
            <a:off x="4100829" y="3635693"/>
            <a:ext cx="1682115" cy="1682115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1" name="泪滴形 60"/>
          <p:cNvSpPr/>
          <p:nvPr>
            <p:custDataLst>
              <p:tags r:id="rId7"/>
            </p:custDataLst>
          </p:nvPr>
        </p:nvSpPr>
        <p:spPr>
          <a:xfrm rot="5400000">
            <a:off x="6177914" y="3635693"/>
            <a:ext cx="1682115" cy="1682115"/>
          </a:xfrm>
          <a:prstGeom prst="teardrop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2" name="矩形 61"/>
          <p:cNvSpPr/>
          <p:nvPr>
            <p:custDataLst>
              <p:tags r:id="rId8"/>
            </p:custDataLst>
          </p:nvPr>
        </p:nvSpPr>
        <p:spPr>
          <a:xfrm>
            <a:off x="885188" y="3802063"/>
            <a:ext cx="2985024" cy="3987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模型优化创新</a:t>
            </a:r>
            <a:endParaRPr lang="zh-CN" altLang="en-US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3" name="矩形 62"/>
          <p:cNvSpPr/>
          <p:nvPr>
            <p:custDataLst>
              <p:tags r:id="rId9"/>
            </p:custDataLst>
          </p:nvPr>
        </p:nvSpPr>
        <p:spPr>
          <a:xfrm>
            <a:off x="723265" y="4286885"/>
            <a:ext cx="3147060" cy="8655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基于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LoRA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实现参数高效微调，结合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RAG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机制增强事实一致性与知识更新能力，适用于算力受限的部署环境。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64" name="直接箭头连接符 63"/>
          <p:cNvCxnSpPr/>
          <p:nvPr>
            <p:custDataLst>
              <p:tags r:id="rId10"/>
            </p:custDataLst>
          </p:nvPr>
        </p:nvCxnSpPr>
        <p:spPr>
          <a:xfrm>
            <a:off x="1899919" y="4217988"/>
            <a:ext cx="1970405" cy="0"/>
          </a:xfrm>
          <a:prstGeom prst="straightConnector1">
            <a:avLst/>
          </a:prstGeom>
          <a:ln w="12700">
            <a:solidFill>
              <a:schemeClr val="accent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>
            <p:custDataLst>
              <p:tags r:id="rId11"/>
            </p:custDataLst>
          </p:nvPr>
        </p:nvSpPr>
        <p:spPr>
          <a:xfrm>
            <a:off x="8129270" y="1834197"/>
            <a:ext cx="2965682" cy="3987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2"/>
                </a:solidFill>
                <a:latin typeface="+mn-ea"/>
                <a:cs typeface="+mn-ea"/>
                <a:sym typeface="+mn-ea"/>
              </a:rPr>
              <a:t>提示词生成创新</a:t>
            </a:r>
            <a:endParaRPr lang="zh-CN" altLang="en-US" b="1">
              <a:solidFill>
                <a:schemeClr val="accent2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66" name="直接箭头连接符 65"/>
          <p:cNvCxnSpPr/>
          <p:nvPr>
            <p:custDataLst>
              <p:tags r:id="rId12"/>
            </p:custDataLst>
          </p:nvPr>
        </p:nvCxnSpPr>
        <p:spPr>
          <a:xfrm flipH="1">
            <a:off x="8129270" y="2250123"/>
            <a:ext cx="1970405" cy="0"/>
          </a:xfrm>
          <a:prstGeom prst="straightConnector1">
            <a:avLst/>
          </a:prstGeom>
          <a:ln w="12700">
            <a:solidFill>
              <a:schemeClr val="accent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>
            <p:custDataLst>
              <p:tags r:id="rId13"/>
            </p:custDataLst>
          </p:nvPr>
        </p:nvSpPr>
        <p:spPr>
          <a:xfrm>
            <a:off x="8129270" y="3801428"/>
            <a:ext cx="2965681" cy="3987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1"/>
                </a:solidFill>
                <a:latin typeface="+mn-ea"/>
                <a:cs typeface="+mn-ea"/>
                <a:sym typeface="+mn-ea"/>
              </a:rPr>
              <a:t>系统实现创新</a:t>
            </a:r>
            <a:endParaRPr lang="zh-CN" altLang="en-US" b="1">
              <a:solidFill>
                <a:schemeClr val="accent1"/>
              </a:solidFill>
              <a:latin typeface="+mn-ea"/>
              <a:cs typeface="+mn-ea"/>
              <a:sym typeface="+mn-ea"/>
            </a:endParaRPr>
          </a:p>
        </p:txBody>
      </p:sp>
      <p:cxnSp>
        <p:nvCxnSpPr>
          <p:cNvPr id="68" name="直接箭头连接符 67"/>
          <p:cNvCxnSpPr/>
          <p:nvPr>
            <p:custDataLst>
              <p:tags r:id="rId14"/>
            </p:custDataLst>
          </p:nvPr>
        </p:nvCxnSpPr>
        <p:spPr>
          <a:xfrm flipH="1">
            <a:off x="8129270" y="4217353"/>
            <a:ext cx="1970405" cy="0"/>
          </a:xfrm>
          <a:prstGeom prst="straightConnector1">
            <a:avLst/>
          </a:prstGeom>
          <a:ln w="12700">
            <a:solidFill>
              <a:schemeClr val="accent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图片 7" descr="343435383038363b343532323338393bbacfd7f7bbfad6c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641214" y="2209483"/>
            <a:ext cx="600710" cy="600710"/>
          </a:xfrm>
          <a:prstGeom prst="rect">
            <a:avLst/>
          </a:prstGeom>
          <a:effectLst>
            <a:reflection blurRad="6350" stA="29000" endPos="35000" dist="50800" dir="5400000" sy="-100000" algn="bl" rotWithShape="0"/>
          </a:effectLst>
        </p:spPr>
      </p:pic>
      <p:sp>
        <p:nvSpPr>
          <p:cNvPr id="70" name="菱形 69"/>
          <p:cNvSpPr/>
          <p:nvPr>
            <p:custDataLst>
              <p:tags r:id="rId18"/>
            </p:custDataLst>
          </p:nvPr>
        </p:nvSpPr>
        <p:spPr>
          <a:xfrm>
            <a:off x="5711189" y="3262948"/>
            <a:ext cx="538480" cy="538480"/>
          </a:xfrm>
          <a:prstGeom prst="diamond">
            <a:avLst/>
          </a:pr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71" name="图片 5" descr="343435383036303b343532343134393bcdb7c4d4b7e7b1a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660899" y="4196398"/>
            <a:ext cx="561340" cy="561340"/>
          </a:xfrm>
          <a:prstGeom prst="rect">
            <a:avLst/>
          </a:prstGeom>
          <a:effectLst>
            <a:reflection blurRad="6350" stA="29000" endPos="35000" dist="50800" dir="5400000" sy="-100000" algn="bl" rotWithShape="0"/>
          </a:effectLst>
        </p:spPr>
      </p:pic>
      <p:pic>
        <p:nvPicPr>
          <p:cNvPr id="72" name="图片 9" descr="343435383038363b343532323339323bc6b7c5c6b9dcc0ed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736714" y="2175193"/>
            <a:ext cx="562610" cy="562610"/>
          </a:xfrm>
          <a:prstGeom prst="rect">
            <a:avLst/>
          </a:prstGeom>
          <a:effectLst>
            <a:reflection blurRad="6350" stA="29000" endPos="35000" dist="50800" dir="5400000" sy="-100000" algn="bl" rotWithShape="0"/>
          </a:effectLst>
        </p:spPr>
      </p:pic>
      <p:pic>
        <p:nvPicPr>
          <p:cNvPr id="73" name="图片 18" descr="343435383036303b343532343136323bcfeec4bfc9fac3fcd6dcc6da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749414" y="4207828"/>
            <a:ext cx="538480" cy="538480"/>
          </a:xfrm>
          <a:prstGeom prst="rect">
            <a:avLst/>
          </a:prstGeom>
          <a:effectLst>
            <a:reflection blurRad="6350" stA="29000" endPos="35000" dist="50800" dir="5400000" sy="-100000" algn="bl" rotWithShape="0"/>
          </a:effectLst>
        </p:spPr>
      </p:pic>
      <p:sp>
        <p:nvSpPr>
          <p:cNvPr id="74" name="矩形 73"/>
          <p:cNvSpPr/>
          <p:nvPr>
            <p:custDataLst>
              <p:tags r:id="rId28"/>
            </p:custDataLst>
          </p:nvPr>
        </p:nvSpPr>
        <p:spPr>
          <a:xfrm>
            <a:off x="8129270" y="2319655"/>
            <a:ext cx="3360420" cy="8655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提出动态感知的多模态</a:t>
            </a:r>
            <a:r>
              <a:rPr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Prompt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构造方法，综合图像显著区域、用户意图与上下文语义，实现更智能的内容生成。</a:t>
            </a:r>
            <a:endParaRPr lang="zh-CN" altLang="en-US" sz="14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5" name="矩形 74"/>
          <p:cNvSpPr/>
          <p:nvPr>
            <p:custDataLst>
              <p:tags r:id="rId29"/>
            </p:custDataLst>
          </p:nvPr>
        </p:nvSpPr>
        <p:spPr>
          <a:xfrm>
            <a:off x="8129270" y="4286885"/>
            <a:ext cx="3382010" cy="86550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构建模块化可扩展的智能导览原型系统，支持文本与图像双输入、多语言语音输出，具备推广潜力。</a:t>
            </a:r>
            <a:endParaRPr lang="zh-CN" altLang="en-US" sz="14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3624131" y="2329180"/>
            <a:ext cx="897890" cy="89789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3624131" y="2660015"/>
            <a:ext cx="1557655" cy="155765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41000"/>
                </a:schemeClr>
              </a:gs>
              <a:gs pos="51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3984131" y="2934118"/>
            <a:ext cx="7686690" cy="1008256"/>
            <a:chOff x="4043304" y="2241962"/>
            <a:chExt cx="7686690" cy="1008256"/>
          </a:xfrm>
        </p:grpSpPr>
        <p:sp>
          <p:nvSpPr>
            <p:cNvPr id="47" name="文本框 46"/>
            <p:cNvSpPr txBox="1"/>
            <p:nvPr/>
          </p:nvSpPr>
          <p:spPr>
            <a:xfrm>
              <a:off x="5447304" y="2361977"/>
              <a:ext cx="628269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dirty="0">
                  <a:solidFill>
                    <a:srgbClr val="004E98"/>
                  </a:solidFill>
                  <a:latin typeface="微软雅黑" panose="020B0503020204020204" charset="-122"/>
                  <a:ea typeface="微软雅黑" panose="020B0503020204020204" charset="-122"/>
                </a:rPr>
                <a:t>其他信息</a:t>
              </a:r>
              <a:endParaRPr lang="zh-CN" altLang="en-US" sz="4800" b="1" dirty="0">
                <a:solidFill>
                  <a:srgbClr val="004E98"/>
                </a:solidFill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043304" y="2327815"/>
              <a:ext cx="171955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800" b="1" dirty="0">
                  <a:solidFill>
                    <a:srgbClr val="004E98"/>
                  </a:solidFill>
                  <a:latin typeface="微软雅黑" panose="020B0503020204020204" charset="-122"/>
                  <a:ea typeface="微软雅黑" panose="020B0503020204020204" charset="-122"/>
                </a:rPr>
                <a:t>四</a:t>
              </a:r>
              <a:endParaRPr lang="zh-CN" altLang="en-US" sz="4800" b="1" dirty="0">
                <a:solidFill>
                  <a:srgbClr val="004E98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51" name="直接连接符 50"/>
            <p:cNvCxnSpPr/>
            <p:nvPr/>
          </p:nvCxnSpPr>
          <p:spPr>
            <a:xfrm>
              <a:off x="5231751" y="2241962"/>
              <a:ext cx="0" cy="1008256"/>
            </a:xfrm>
            <a:prstGeom prst="line">
              <a:avLst/>
            </a:prstGeom>
            <a:ln w="19050">
              <a:solidFill>
                <a:srgbClr val="004E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642" y="0"/>
            <a:ext cx="1042358" cy="898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fld id="{49AE70B2-8BF9-45C0-BB95-33D1B9D3A854}" type="slidenum">
              <a:rPr lang="zh-CN" altLang="en-US" smtClean="0"/>
            </a:fld>
            <a:r>
              <a:rPr lang="en-US" altLang="zh-CN" dirty="0">
                <a:sym typeface="+mn-ea"/>
              </a:rPr>
              <a:t>/19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775996" y="47155"/>
            <a:ext cx="8640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其他信息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进度安排与预期目标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5"/>
          <p:cNvSpPr/>
          <p:nvPr>
            <p:custDataLst>
              <p:tags r:id="rId1"/>
            </p:custDataLst>
          </p:nvPr>
        </p:nvSpPr>
        <p:spPr>
          <a:xfrm>
            <a:off x="880744" y="900003"/>
            <a:ext cx="4909421" cy="777580"/>
          </a:xfrm>
          <a:custGeom>
            <a:avLst/>
            <a:gdLst>
              <a:gd name="connsiteX0" fmla="*/ 0 w 4826782"/>
              <a:gd name="connsiteY0" fmla="*/ 0 h 817656"/>
              <a:gd name="connsiteX1" fmla="*/ 4826782 w 4826782"/>
              <a:gd name="connsiteY1" fmla="*/ 0 h 817656"/>
              <a:gd name="connsiteX2" fmla="*/ 4060626 w 4826782"/>
              <a:gd name="connsiteY2" fmla="*/ 817656 h 817656"/>
              <a:gd name="connsiteX3" fmla="*/ 0 w 4826782"/>
              <a:gd name="connsiteY3" fmla="*/ 817656 h 817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6782" h="817656">
                <a:moveTo>
                  <a:pt x="0" y="0"/>
                </a:moveTo>
                <a:lnTo>
                  <a:pt x="4826782" y="0"/>
                </a:lnTo>
                <a:lnTo>
                  <a:pt x="4060626" y="817656"/>
                </a:lnTo>
                <a:lnTo>
                  <a:pt x="0" y="817656"/>
                </a:lnTo>
                <a:close/>
              </a:path>
            </a:pathLst>
          </a:custGeom>
          <a:solidFill>
            <a:srgbClr val="004E98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wrap="square"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进度安排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10"/>
          <p:cNvSpPr/>
          <p:nvPr>
            <p:custDataLst>
              <p:tags r:id="rId2"/>
            </p:custDataLst>
          </p:nvPr>
        </p:nvSpPr>
        <p:spPr>
          <a:xfrm>
            <a:off x="6401835" y="900003"/>
            <a:ext cx="5031657" cy="777580"/>
          </a:xfrm>
          <a:custGeom>
            <a:avLst/>
            <a:gdLst>
              <a:gd name="connsiteX0" fmla="*/ 1174384 w 9112656"/>
              <a:gd name="connsiteY0" fmla="*/ 0 h 1625600"/>
              <a:gd name="connsiteX1" fmla="*/ 9112656 w 9112656"/>
              <a:gd name="connsiteY1" fmla="*/ 0 h 1625600"/>
              <a:gd name="connsiteX2" fmla="*/ 9112656 w 9112656"/>
              <a:gd name="connsiteY2" fmla="*/ 1625600 h 1625600"/>
              <a:gd name="connsiteX3" fmla="*/ 0 w 9112656"/>
              <a:gd name="connsiteY3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12656" h="1625600">
                <a:moveTo>
                  <a:pt x="1174384" y="0"/>
                </a:moveTo>
                <a:lnTo>
                  <a:pt x="9112656" y="0"/>
                </a:lnTo>
                <a:lnTo>
                  <a:pt x="9112656" y="1625600"/>
                </a:lnTo>
                <a:lnTo>
                  <a:pt x="0" y="16256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>
            <a:normAutofit/>
          </a:bodyPr>
          <a:lstStyle/>
          <a:p>
            <a:pPr algn="ctr"/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预期目标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27"/>
          <p:cNvSpPr txBox="1"/>
          <p:nvPr>
            <p:custDataLst>
              <p:tags r:id="rId3"/>
            </p:custDataLst>
          </p:nvPr>
        </p:nvSpPr>
        <p:spPr>
          <a:xfrm>
            <a:off x="6908974" y="1925087"/>
            <a:ext cx="4463298" cy="943542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t"/>
          <a:lstStyle/>
          <a:p>
            <a:r>
              <a:rPr lang="zh-CN" altLang="en-US" sz="1600" dirty="0"/>
              <a:t>总体目标：</a:t>
            </a:r>
            <a:endParaRPr lang="zh-CN" altLang="en-US" sz="1600" dirty="0"/>
          </a:p>
          <a:p>
            <a:r>
              <a:rPr lang="zh-CN" altLang="en-US" sz="1600" dirty="0"/>
              <a:t>构建一套基于多模态大模型的智能语音导览系统，实现展品识别、知识检索、讲解生成与语音播报的一体化流程。</a:t>
            </a:r>
            <a:endParaRPr lang="zh-CN" altLang="en-US" sz="1600" dirty="0"/>
          </a:p>
        </p:txBody>
      </p:sp>
      <p:sp>
        <p:nvSpPr>
          <p:cNvPr id="13" name="椭圆 12"/>
          <p:cNvSpPr>
            <a:spLocks noChangeAspect="1"/>
          </p:cNvSpPr>
          <p:nvPr/>
        </p:nvSpPr>
        <p:spPr>
          <a:xfrm>
            <a:off x="6412377" y="2085099"/>
            <a:ext cx="496596" cy="4965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6408722" y="3367847"/>
            <a:ext cx="496596" cy="4965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6409202" y="4753884"/>
            <a:ext cx="496596" cy="49659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27"/>
          <p:cNvSpPr txBox="1"/>
          <p:nvPr>
            <p:custDataLst>
              <p:tags r:id="rId6"/>
            </p:custDataLst>
          </p:nvPr>
        </p:nvSpPr>
        <p:spPr>
          <a:xfrm>
            <a:off x="6905625" y="3254375"/>
            <a:ext cx="4581525" cy="960755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t"/>
          <a:lstStyle/>
          <a:p>
            <a:r>
              <a:rPr lang="zh-CN" altLang="en-US" sz="1600" dirty="0"/>
              <a:t>功能目标：</a:t>
            </a:r>
            <a:endParaRPr lang="zh-CN" altLang="en-US" sz="1600" dirty="0"/>
          </a:p>
          <a:p>
            <a:r>
              <a:rPr lang="zh-CN" altLang="en-US" sz="1600" dirty="0"/>
              <a:t>支持文字与图像输入，自动生成个性化讲解内容；</a:t>
            </a:r>
            <a:endParaRPr lang="zh-CN" altLang="en-US" sz="1600" dirty="0"/>
          </a:p>
          <a:p>
            <a:r>
              <a:rPr lang="zh-CN" altLang="en-US" sz="1600" dirty="0"/>
              <a:t>具备语音合成功能，提供自然流畅的语音讲解。</a:t>
            </a:r>
            <a:endParaRPr lang="zh-CN" altLang="en-US" sz="1600" dirty="0"/>
          </a:p>
          <a:p>
            <a:endParaRPr lang="zh-CN" alt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6908971" y="4651975"/>
            <a:ext cx="4463299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性能目标：</a:t>
            </a:r>
            <a:endParaRPr lang="zh-CN" altLang="en-US" sz="1600" dirty="0"/>
          </a:p>
          <a:p>
            <a:r>
              <a:rPr lang="zh-CN" altLang="en-US" sz="1600" dirty="0"/>
              <a:t>展品识别准确率：</a:t>
            </a:r>
            <a:r>
              <a:rPr lang="en-US" altLang="zh-CN" sz="1600" dirty="0"/>
              <a:t>Top-1 ≥70%</a:t>
            </a:r>
            <a:r>
              <a:rPr lang="zh-CN" altLang="en-US" sz="1600" dirty="0"/>
              <a:t>，</a:t>
            </a:r>
            <a:r>
              <a:rPr lang="en-US" altLang="zh-CN" sz="1600" dirty="0"/>
              <a:t>Top-5 ≥80%</a:t>
            </a:r>
            <a:r>
              <a:rPr lang="zh-CN" altLang="en-US" sz="1600" dirty="0"/>
              <a:t>；</a:t>
            </a:r>
            <a:endParaRPr lang="zh-CN" altLang="en-US" sz="1600" dirty="0"/>
          </a:p>
          <a:p>
            <a:r>
              <a:rPr lang="zh-CN" altLang="en-US" sz="1600" dirty="0"/>
              <a:t>属性提取精度</a:t>
            </a:r>
            <a:r>
              <a:rPr lang="en-US" altLang="zh-CN" sz="1600" dirty="0"/>
              <a:t> ≥80%</a:t>
            </a:r>
            <a:r>
              <a:rPr lang="zh-CN" altLang="en-US" sz="1600" dirty="0"/>
              <a:t>；</a:t>
            </a:r>
            <a:endParaRPr lang="zh-CN" altLang="en-US" sz="1600" dirty="0"/>
          </a:p>
          <a:p>
            <a:r>
              <a:rPr lang="zh-CN" altLang="en-US" sz="1600" dirty="0"/>
              <a:t>检索命中率</a:t>
            </a:r>
            <a:r>
              <a:rPr lang="en-US" altLang="zh-CN" sz="1600" dirty="0"/>
              <a:t> ≥70%</a:t>
            </a:r>
            <a:r>
              <a:rPr lang="zh-CN" altLang="en-US" sz="1600" dirty="0"/>
              <a:t>；</a:t>
            </a:r>
            <a:endParaRPr lang="zh-CN" altLang="en-US" sz="1600" dirty="0"/>
          </a:p>
          <a:p>
            <a:r>
              <a:rPr lang="zh-CN" altLang="en-US" sz="1600" dirty="0"/>
              <a:t>生成内容知识忠实度</a:t>
            </a:r>
            <a:r>
              <a:rPr lang="en-US" altLang="zh-CN" sz="1600" dirty="0"/>
              <a:t> ≥70%</a:t>
            </a:r>
            <a:r>
              <a:rPr lang="zh-CN" altLang="en-US" sz="1600" dirty="0"/>
              <a:t>。</a:t>
            </a:r>
            <a:endParaRPr lang="zh-CN" altLang="en-US" sz="1600" dirty="0"/>
          </a:p>
        </p:txBody>
      </p:sp>
      <p:sp>
        <p:nvSpPr>
          <p:cNvPr id="21" name="文本框 27"/>
          <p:cNvSpPr txBox="1"/>
          <p:nvPr>
            <p:custDataLst>
              <p:tags r:id="rId7"/>
            </p:custDataLst>
          </p:nvPr>
        </p:nvSpPr>
        <p:spPr>
          <a:xfrm>
            <a:off x="1272902" y="1786649"/>
            <a:ext cx="4463298" cy="777574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t"/>
          <a:lstStyle/>
          <a:p>
            <a:r>
              <a:rPr lang="en-US" altLang="zh-CN" sz="1600" dirty="0">
                <a:latin typeface="+mj-ea"/>
                <a:ea typeface="+mj-ea"/>
              </a:rPr>
              <a:t>2025</a:t>
            </a:r>
            <a:r>
              <a:rPr lang="zh-CN" altLang="en-US" sz="1600" dirty="0">
                <a:latin typeface="+mj-ea"/>
                <a:ea typeface="+mj-ea"/>
              </a:rPr>
              <a:t>年</a:t>
            </a:r>
            <a:r>
              <a:rPr lang="en-US" altLang="zh-CN" sz="1600" dirty="0">
                <a:latin typeface="+mj-ea"/>
                <a:ea typeface="+mj-ea"/>
              </a:rPr>
              <a:t>9</a:t>
            </a:r>
            <a:r>
              <a:rPr lang="zh-CN" altLang="en-US" sz="1600" dirty="0">
                <a:latin typeface="+mj-ea"/>
                <a:ea typeface="+mj-ea"/>
              </a:rPr>
              <a:t>月</a:t>
            </a:r>
            <a:r>
              <a:rPr lang="en-US" altLang="zh-CN" sz="1600" dirty="0">
                <a:latin typeface="+mj-ea"/>
                <a:ea typeface="+mj-ea"/>
              </a:rPr>
              <a:t>—12</a:t>
            </a:r>
            <a:r>
              <a:rPr lang="zh-CN" altLang="en-US" sz="1600" dirty="0">
                <a:latin typeface="+mj-ea"/>
                <a:ea typeface="+mj-ea"/>
              </a:rPr>
              <a:t>月：查阅国内外文献，明确研究目标与技术路线，完成开题与系统总体设计方案。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22" name="椭圆 21"/>
          <p:cNvSpPr>
            <a:spLocks noChangeAspect="1"/>
          </p:cNvSpPr>
          <p:nvPr/>
        </p:nvSpPr>
        <p:spPr>
          <a:xfrm>
            <a:off x="778846" y="1780299"/>
            <a:ext cx="496596" cy="496596"/>
          </a:xfrm>
          <a:prstGeom prst="ellipse">
            <a:avLst/>
          </a:prstGeom>
          <a:solidFill>
            <a:srgbClr val="004E9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+mj-ea"/>
                <a:ea typeface="+mj-ea"/>
              </a:rPr>
              <a:t>1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23" name="椭圆 22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779001" y="2648125"/>
            <a:ext cx="496596" cy="496596"/>
          </a:xfrm>
          <a:prstGeom prst="ellipse">
            <a:avLst/>
          </a:prstGeom>
          <a:solidFill>
            <a:srgbClr val="004E9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+mj-ea"/>
                <a:ea typeface="+mj-ea"/>
              </a:rPr>
              <a:t>2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24" name="椭圆 23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778845" y="3610671"/>
            <a:ext cx="496596" cy="496596"/>
          </a:xfrm>
          <a:prstGeom prst="ellipse">
            <a:avLst/>
          </a:prstGeom>
          <a:solidFill>
            <a:srgbClr val="004E9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+mj-ea"/>
                <a:ea typeface="+mj-ea"/>
              </a:rPr>
              <a:t>3</a:t>
            </a:r>
            <a:endParaRPr lang="en-US" altLang="zh-CN" b="1">
              <a:latin typeface="+mj-ea"/>
              <a:ea typeface="+mj-ea"/>
            </a:endParaRPr>
          </a:p>
        </p:txBody>
      </p:sp>
      <p:sp>
        <p:nvSpPr>
          <p:cNvPr id="25" name="椭圆 24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779000" y="4620160"/>
            <a:ext cx="496596" cy="496596"/>
          </a:xfrm>
          <a:prstGeom prst="ellipse">
            <a:avLst/>
          </a:prstGeom>
          <a:solidFill>
            <a:srgbClr val="004E9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+mj-ea"/>
                <a:ea typeface="+mj-ea"/>
              </a:rPr>
              <a:t>4</a:t>
            </a:r>
            <a:endParaRPr lang="en-US" altLang="zh-CN" b="1">
              <a:latin typeface="+mj-ea"/>
              <a:ea typeface="+mj-ea"/>
            </a:endParaRPr>
          </a:p>
        </p:txBody>
      </p:sp>
      <p:sp>
        <p:nvSpPr>
          <p:cNvPr id="26" name="文本框 27"/>
          <p:cNvSpPr txBox="1"/>
          <p:nvPr>
            <p:custDataLst>
              <p:tags r:id="rId11"/>
            </p:custDataLst>
          </p:nvPr>
        </p:nvSpPr>
        <p:spPr>
          <a:xfrm>
            <a:off x="1275442" y="2564189"/>
            <a:ext cx="4463298" cy="79789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t">
            <a:noAutofit/>
          </a:bodyPr>
          <a:lstStyle/>
          <a:p>
            <a:pPr lvl="0" indent="0" fontAlgn="auto">
              <a:lnSpc>
                <a:spcPct val="110000"/>
              </a:lnSpc>
            </a:pPr>
            <a:r>
              <a:rPr lang="en-US" altLang="zh-CN" sz="1600" dirty="0">
                <a:latin typeface="+mj-ea"/>
                <a:ea typeface="+mj-ea"/>
              </a:rPr>
              <a:t>2026</a:t>
            </a:r>
            <a:r>
              <a:rPr lang="zh-CN" altLang="en-US" sz="1600" dirty="0">
                <a:latin typeface="+mj-ea"/>
                <a:ea typeface="+mj-ea"/>
              </a:rPr>
              <a:t>年</a:t>
            </a:r>
            <a:r>
              <a:rPr lang="en-US" altLang="zh-CN" sz="1600" dirty="0">
                <a:latin typeface="+mj-ea"/>
                <a:ea typeface="+mj-ea"/>
              </a:rPr>
              <a:t>1</a:t>
            </a:r>
            <a:r>
              <a:rPr lang="zh-CN" altLang="en-US" sz="1600" dirty="0">
                <a:latin typeface="+mj-ea"/>
                <a:ea typeface="+mj-ea"/>
              </a:rPr>
              <a:t>月</a:t>
            </a:r>
            <a:r>
              <a:rPr lang="en-US" altLang="zh-CN" sz="1600" dirty="0">
                <a:latin typeface="+mj-ea"/>
                <a:ea typeface="+mj-ea"/>
              </a:rPr>
              <a:t>—2</a:t>
            </a:r>
            <a:r>
              <a:rPr lang="zh-CN" altLang="en-US" sz="1600" dirty="0">
                <a:latin typeface="+mj-ea"/>
                <a:ea typeface="+mj-ea"/>
              </a:rPr>
              <a:t>月：收集并整理展品资料，构建文物知识库并进行语义向量化，为后续模型训练提供数据基础。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275440" y="3421487"/>
            <a:ext cx="4463299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0" fontAlgn="auto">
              <a:lnSpc>
                <a:spcPct val="150000"/>
              </a:lnSpc>
            </a:pPr>
            <a:r>
              <a:rPr lang="en-US" altLang="zh-CN" sz="1600" dirty="0">
                <a:latin typeface="+mj-ea"/>
                <a:ea typeface="+mj-ea"/>
              </a:rPr>
              <a:t>2026</a:t>
            </a:r>
            <a:r>
              <a:rPr lang="zh-CN" altLang="en-US" sz="1600" dirty="0">
                <a:latin typeface="+mj-ea"/>
                <a:ea typeface="+mj-ea"/>
              </a:rPr>
              <a:t>年</a:t>
            </a:r>
            <a:r>
              <a:rPr lang="en-US" altLang="zh-CN" sz="1600" dirty="0">
                <a:latin typeface="+mj-ea"/>
                <a:ea typeface="+mj-ea"/>
              </a:rPr>
              <a:t>3</a:t>
            </a:r>
            <a:r>
              <a:rPr lang="zh-CN" altLang="en-US" sz="1600" dirty="0">
                <a:latin typeface="+mj-ea"/>
                <a:ea typeface="+mj-ea"/>
              </a:rPr>
              <a:t>月：集成多模态模型与检索增强生成（</a:t>
            </a:r>
            <a:r>
              <a:rPr lang="en-US" altLang="zh-CN" sz="1600" dirty="0">
                <a:latin typeface="+mj-ea"/>
                <a:ea typeface="+mj-ea"/>
              </a:rPr>
              <a:t>RAG</a:t>
            </a:r>
            <a:r>
              <a:rPr lang="zh-CN" altLang="en-US" sz="1600" dirty="0">
                <a:latin typeface="+mj-ea"/>
                <a:ea typeface="+mj-ea"/>
              </a:rPr>
              <a:t>）机制，开发基本的</a:t>
            </a:r>
            <a:r>
              <a:rPr lang="en-US" altLang="zh-CN" sz="1600" dirty="0">
                <a:latin typeface="+mj-ea"/>
                <a:ea typeface="+mj-ea"/>
              </a:rPr>
              <a:t>“</a:t>
            </a:r>
            <a:r>
              <a:rPr lang="zh-CN" altLang="en-US" sz="1600" dirty="0">
                <a:latin typeface="+mj-ea"/>
                <a:ea typeface="+mj-ea"/>
              </a:rPr>
              <a:t>图像</a:t>
            </a:r>
            <a:r>
              <a:rPr lang="en-US" altLang="zh-CN" sz="1600" dirty="0">
                <a:latin typeface="+mj-ea"/>
                <a:ea typeface="+mj-ea"/>
              </a:rPr>
              <a:t>/</a:t>
            </a:r>
            <a:r>
              <a:rPr lang="zh-CN" altLang="en-US" sz="1600" dirty="0">
                <a:latin typeface="+mj-ea"/>
                <a:ea typeface="+mj-ea"/>
              </a:rPr>
              <a:t>文本输入</a:t>
            </a:r>
            <a:r>
              <a:rPr lang="en-US" altLang="zh-CN" sz="1600" dirty="0">
                <a:latin typeface="+mj-ea"/>
                <a:ea typeface="+mj-ea"/>
              </a:rPr>
              <a:t>—</a:t>
            </a:r>
            <a:r>
              <a:rPr lang="zh-CN" altLang="en-US" sz="1600" dirty="0">
                <a:latin typeface="+mj-ea"/>
                <a:ea typeface="+mj-ea"/>
              </a:rPr>
              <a:t>语音讲解输出</a:t>
            </a:r>
            <a:r>
              <a:rPr lang="en-US" altLang="zh-CN" sz="1600" dirty="0">
                <a:latin typeface="+mj-ea"/>
                <a:ea typeface="+mj-ea"/>
              </a:rPr>
              <a:t>”</a:t>
            </a:r>
            <a:r>
              <a:rPr lang="zh-CN" altLang="en-US" sz="1600" dirty="0">
                <a:latin typeface="+mj-ea"/>
                <a:ea typeface="+mj-ea"/>
              </a:rPr>
              <a:t>原型系统，并通过中期检查。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275440" y="4586364"/>
            <a:ext cx="4463299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0" fontAlgn="auto">
              <a:lnSpc>
                <a:spcPct val="150000"/>
              </a:lnSpc>
            </a:pPr>
            <a:r>
              <a:rPr lang="en-US" altLang="zh-CN" sz="1600" dirty="0">
                <a:latin typeface="+mj-ea"/>
                <a:ea typeface="+mj-ea"/>
              </a:rPr>
              <a:t>2026</a:t>
            </a:r>
            <a:r>
              <a:rPr lang="zh-CN" altLang="en-US" sz="1600" dirty="0">
                <a:latin typeface="+mj-ea"/>
                <a:ea typeface="+mj-ea"/>
              </a:rPr>
              <a:t>年</a:t>
            </a:r>
            <a:r>
              <a:rPr lang="en-US" altLang="zh-CN" sz="1600" dirty="0">
                <a:latin typeface="+mj-ea"/>
                <a:ea typeface="+mj-ea"/>
              </a:rPr>
              <a:t>4</a:t>
            </a:r>
            <a:r>
              <a:rPr lang="zh-CN" altLang="en-US" sz="1600" dirty="0">
                <a:latin typeface="+mj-ea"/>
                <a:ea typeface="+mj-ea"/>
              </a:rPr>
              <a:t>月上旬：优化知识检索算法、模型微调与语音合成效果，提升系统准确性与交互体验。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2" name="椭圆 1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779000" y="5477410"/>
            <a:ext cx="496596" cy="496596"/>
          </a:xfrm>
          <a:prstGeom prst="ellipse">
            <a:avLst/>
          </a:prstGeom>
          <a:solidFill>
            <a:srgbClr val="004E9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+mj-ea"/>
                <a:ea typeface="+mj-ea"/>
              </a:rPr>
              <a:t>5</a:t>
            </a:r>
            <a:endParaRPr lang="en-US" altLang="zh-CN" b="1"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75440" y="5477269"/>
            <a:ext cx="4463299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0" fontAlgn="auto">
              <a:lnSpc>
                <a:spcPct val="150000"/>
              </a:lnSpc>
            </a:pPr>
            <a:r>
              <a:rPr lang="en-US" altLang="zh-CN" sz="1600" dirty="0">
                <a:latin typeface="+mj-ea"/>
                <a:ea typeface="+mj-ea"/>
              </a:rPr>
              <a:t>2026</a:t>
            </a:r>
            <a:r>
              <a:rPr lang="zh-CN" altLang="en-US" sz="1600" dirty="0">
                <a:latin typeface="+mj-ea"/>
                <a:ea typeface="+mj-ea"/>
              </a:rPr>
              <a:t>年</a:t>
            </a:r>
            <a:r>
              <a:rPr lang="en-US" altLang="zh-CN" sz="1600" dirty="0">
                <a:latin typeface="+mj-ea"/>
                <a:ea typeface="+mj-ea"/>
              </a:rPr>
              <a:t>4</a:t>
            </a:r>
            <a:r>
              <a:rPr lang="zh-CN" altLang="en-US" sz="1600" dirty="0">
                <a:latin typeface="+mj-ea"/>
                <a:ea typeface="+mj-ea"/>
              </a:rPr>
              <a:t>月下旬</a:t>
            </a:r>
            <a:r>
              <a:rPr lang="zh-CN" altLang="en-US" sz="1600" dirty="0">
                <a:latin typeface="+mj-ea"/>
                <a:ea typeface="+mj-ea"/>
              </a:rPr>
              <a:t>：完成系统测试、论文撰写及演示材料准备，进行结题答辩与成果展示。</a:t>
            </a:r>
            <a:endParaRPr lang="zh-CN" altLang="en-US" sz="16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0" y="-3393"/>
            <a:ext cx="12192000" cy="5630286"/>
          </a:xfrm>
          <a:prstGeom prst="rect">
            <a:avLst/>
          </a:prstGeom>
          <a:solidFill>
            <a:schemeClr val="bg1">
              <a:lumMod val="95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31349" y="1772151"/>
            <a:ext cx="620859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b="1" dirty="0">
                <a:solidFill>
                  <a:srgbClr val="035A80"/>
                </a:solidFill>
                <a:latin typeface="方正大标宋_GBK" panose="03000509000000000000" pitchFamily="65" charset="-122"/>
                <a:ea typeface="方正大标宋_GBK" panose="03000509000000000000" pitchFamily="65" charset="-122"/>
              </a:rPr>
              <a:t>谢谢！</a:t>
            </a:r>
            <a:endParaRPr lang="en-US" altLang="zh-CN" sz="4400" b="1" dirty="0">
              <a:solidFill>
                <a:srgbClr val="035A80"/>
              </a:solidFill>
              <a:latin typeface="方正大标宋_GBK" panose="03000509000000000000" pitchFamily="65" charset="-122"/>
              <a:ea typeface="方正大标宋_GBK" panose="03000509000000000000" pitchFamily="65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35A80"/>
                </a:solidFill>
                <a:effectLst/>
                <a:uLnTx/>
                <a:uFillTx/>
                <a:latin typeface="方正大标宋_GBK" panose="03000509000000000000" pitchFamily="65" charset="-122"/>
                <a:ea typeface="方正大标宋_GBK" panose="03000509000000000000" pitchFamily="65" charset="-122"/>
              </a:rPr>
              <a:t>请各位老师批评指正！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35A80"/>
              </a:solidFill>
              <a:effectLst/>
              <a:uLnTx/>
              <a:uFillTx/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5630286"/>
            <a:ext cx="12192000" cy="1227713"/>
          </a:xfrm>
          <a:prstGeom prst="rect">
            <a:avLst/>
          </a:prstGeom>
          <a:solidFill>
            <a:srgbClr val="035A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86093" y="6100176"/>
            <a:ext cx="304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规格严格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|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 功夫到家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268948" y="3925335"/>
            <a:ext cx="3682290" cy="809099"/>
            <a:chOff x="3285725" y="4370615"/>
            <a:chExt cx="1826014" cy="927778"/>
          </a:xfrm>
        </p:grpSpPr>
        <p:sp>
          <p:nvSpPr>
            <p:cNvPr id="14" name="矩形 13"/>
            <p:cNvSpPr/>
            <p:nvPr/>
          </p:nvSpPr>
          <p:spPr>
            <a:xfrm>
              <a:off x="3285725" y="4370615"/>
              <a:ext cx="1826014" cy="927778"/>
            </a:xfrm>
            <a:prstGeom prst="rect">
              <a:avLst/>
            </a:prstGeom>
            <a:solidFill>
              <a:srgbClr val="035A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大标宋_GBK" panose="03000509000000000000" pitchFamily="65" charset="-122"/>
                <a:ea typeface="方正大标宋_GBK" panose="03000509000000000000" pitchFamily="65" charset="-122"/>
                <a:cs typeface="+mn-cs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362494" y="4471574"/>
              <a:ext cx="1675224" cy="669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汇报人</a:t>
              </a: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：李炜臻</a:t>
              </a:r>
              <a:endParaRPr lang="en-US" altLang="zh-CN" sz="16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b="1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日期：</a:t>
              </a:r>
              <a:r>
                <a:rPr lang="en-US" altLang="zh-CN" sz="1600" b="1" dirty="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2025.10.22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852058" y="5628024"/>
            <a:ext cx="6487884" cy="148518"/>
            <a:chOff x="2950029" y="5627954"/>
            <a:chExt cx="6487884" cy="148518"/>
          </a:xfrm>
        </p:grpSpPr>
        <p:sp>
          <p:nvSpPr>
            <p:cNvPr id="18" name="矩形 17"/>
            <p:cNvSpPr/>
            <p:nvPr/>
          </p:nvSpPr>
          <p:spPr>
            <a:xfrm>
              <a:off x="2950029" y="5627955"/>
              <a:ext cx="1621971" cy="14851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4572000" y="5627954"/>
              <a:ext cx="1621971" cy="14851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6193971" y="5627957"/>
              <a:ext cx="1621971" cy="14851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7815942" y="5627956"/>
              <a:ext cx="1621971" cy="14851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pic>
        <p:nvPicPr>
          <p:cNvPr id="1026" name="Picture 2" descr="logo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974" y="632539"/>
            <a:ext cx="4944239" cy="88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TYPE" val="y"/>
  <p:tag name="KSO_WM_UNIT_INDEX" val="1"/>
  <p:tag name="KSO_WM_UNIT_ID" val="_1*y*1"/>
  <p:tag name="KSO_WM_SLIDE_BACKGROUND_MASK_FLAG" val="1"/>
</p:tagLst>
</file>

<file path=ppt/tags/tag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4.xml><?xml version="1.0" encoding="utf-8"?>
<p:tagLst xmlns:p="http://schemas.openxmlformats.org/presentationml/2006/main">
  <p:tag name="KSO_WM_UNIT_TYPE" val="i"/>
  <p:tag name="KSO_WM_UNIT_SUBTYPE" val="h"/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2.xml><?xml version="1.0" encoding="utf-8"?>
<p:tagLst xmlns:p="http://schemas.openxmlformats.org/presentationml/2006/main">
  <p:tag name="KSO_WM_UNIT_TYPE" val="i"/>
  <p:tag name="KSO_WM_UNIT_SUBTYPE" val="h"/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0.xml><?xml version="1.0" encoding="utf-8"?>
<p:tagLst xmlns:p="http://schemas.openxmlformats.org/presentationml/2006/main">
  <p:tag name="KSO_WM_UNIT_TYPE" val="i"/>
  <p:tag name="KSO_WM_UNIT_SUBTYPE" val="h"/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9.xml><?xml version="1.0" encoding="utf-8"?>
<p:tagLst xmlns:p="http://schemas.openxmlformats.org/presentationml/2006/main">
  <p:tag name="KSO_WM_UNIT_TYPE" val="i"/>
  <p:tag name="KSO_WM_UNIT_SUBTYPE" val="h"/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18.xml><?xml version="1.0" encoding="utf-8"?>
<p:tagLst xmlns:p="http://schemas.openxmlformats.org/presentationml/2006/main">
  <p:tag name="KSO_WM_UNIT_TYPE" val="i"/>
  <p:tag name="KSO_WM_UNIT_SUBTYPE" val="h"/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29.xml><?xml version="1.0" encoding="utf-8"?>
<p:tagLst xmlns:p="http://schemas.openxmlformats.org/presentationml/2006/main">
  <p:tag name="KSO_WM_UNIT_TYPE" val="i"/>
  <p:tag name="KSO_WM_UNIT_SUBTYPE" val="h"/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587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587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204587"/>
  <p:tag name="KSO_WM_TEMPLATE_SUBCATEGORY" val="0"/>
  <p:tag name="KSO_WM_TEMPLATE_MASTER_TYPE" val="1"/>
  <p:tag name="KSO_WM_TEMPLATE_COLOR_TYPE" val="1"/>
  <p:tag name="KSO_WM_TEMPLATE_MASTER_THUMB_INDEX" val="12"/>
  <p:tag name="KSO_WM_TEMPLATE_THUMBS_INDEX" val="1、4、7、9、12、16、20、23、24、25、26、27、30、33、37、38、39、40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4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1_4"/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  <p:tag name="KSO_WM_DIAGRAM_VIRTUALLY_FRAME" val="{&quot;height&quot;:357.8713385826772,&quot;left&quot;:339.77527559055113,&quot;top&quot;:106.97503937007873,&quot;width&quot;:569.2542519685038}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1_3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357.8713385826772,&quot;left&quot;:339.77527559055113,&quot;top&quot;:106.97503937007873,&quot;width&quot;:569.2542519685038}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1_1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357.8713385826772,&quot;left&quot;:339.77527559055113,&quot;top&quot;:106.97503937007873,&quot;width&quot;:569.2542519685038}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1_2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357.8713385826772,&quot;left&quot;:339.77527559055113,&quot;top&quot;:106.97503937007873,&quot;width&quot;:569.2542519685038}"/>
</p:tagLst>
</file>

<file path=ppt/tags/tag148.xml><?xml version="1.0" encoding="utf-8"?>
<p:tagLst xmlns:p="http://schemas.openxmlformats.org/presentationml/2006/main"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LAYERLEVEL" val="1_1_1"/>
  <p:tag name="KSO_WM_TAG_VERSION" val="1.0"/>
  <p:tag name="KSO_WM_BEAUTIFY_FLAG" val="#wm#"/>
  <p:tag name="KSO_WM_UNIT_PRESET_TEXT" val="单击此处添加文本内容"/>
  <p:tag name="KSO_WM_TEMPLATE_CATEGORY" val="custom"/>
  <p:tag name="KSO_WM_TEMPLATE_INDEX" val="20204587"/>
  <p:tag name="KSO_WM_UNIT_ID" val="custom20204587_4*l_h_f*1_1_1"/>
  <p:tag name="KSO_WM_UNIT_SUBTYPE" val="a"/>
  <p:tag name="KSO_WM_UNIT_TEXT_FILL_FORE_SCHEMECOLOR_INDEX" val="13"/>
  <p:tag name="KSO_WM_UNIT_TEXT_FILL_TYPE" val="1"/>
  <p:tag name="KSO_WM_UNIT_USESOURCEFORMAT_APPLY" val="1"/>
  <p:tag name="KSO_WM_DIAGRAM_VIRTUALLY_FRAME" val="{&quot;height&quot;:357.8713385826772,&quot;left&quot;:339.77527559055113,&quot;top&quot;:106.97503937007873,&quot;width&quot;:569.2542519685038}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4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2_4"/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  <p:tag name="KSO_WM_DIAGRAM_VIRTUALLY_FRAME" val="{&quot;height&quot;:357.8713385826772,&quot;left&quot;:339.77527559055113,&quot;top&quot;:106.97503937007873,&quot;width&quot;:569.2542519685038}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2_3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357.8713385826772,&quot;left&quot;:339.77527559055113,&quot;top&quot;:106.97503937007873,&quot;width&quot;:569.2542519685038}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2_1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357.8713385826772,&quot;left&quot;:339.77527559055113,&quot;top&quot;:106.97503937007873,&quot;width&quot;:569.2542519685038}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2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2_2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357.8713385826772,&quot;left&quot;:339.77527559055113,&quot;top&quot;:106.97503937007873,&quot;width&quot;:569.2542519685038}"/>
</p:tagLst>
</file>

<file path=ppt/tags/tag153.xml><?xml version="1.0" encoding="utf-8"?>
<p:tagLst xmlns:p="http://schemas.openxmlformats.org/presentationml/2006/main"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LAYERLEVEL" val="1_1_1"/>
  <p:tag name="KSO_WM_TAG_VERSION" val="1.0"/>
  <p:tag name="KSO_WM_BEAUTIFY_FLAG" val="#wm#"/>
  <p:tag name="KSO_WM_UNIT_PRESET_TEXT" val="单击此处添加文本内容"/>
  <p:tag name="KSO_WM_TEMPLATE_CATEGORY" val="custom"/>
  <p:tag name="KSO_WM_TEMPLATE_INDEX" val="20204587"/>
  <p:tag name="KSO_WM_UNIT_ID" val="custom20204587_4*l_h_f*1_2_1"/>
  <p:tag name="KSO_WM_UNIT_SUBTYPE" val="a"/>
  <p:tag name="KSO_WM_UNIT_TEXT_FILL_FORE_SCHEMECOLOR_INDEX" val="13"/>
  <p:tag name="KSO_WM_UNIT_TEXT_FILL_TYPE" val="1"/>
  <p:tag name="KSO_WM_UNIT_USESOURCEFORMAT_APPLY" val="1"/>
  <p:tag name="KSO_WM_DIAGRAM_VIRTUALLY_FRAME" val="{&quot;height&quot;:357.8713385826772,&quot;left&quot;:339.77527559055113,&quot;top&quot;:106.97503937007873,&quot;width&quot;:569.2542519685038}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3_4"/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  <p:tag name="KSO_WM_DIAGRAM_VIRTUALLY_FRAME" val="{&quot;height&quot;:357.8713385826772,&quot;left&quot;:339.77527559055113,&quot;top&quot;:106.97503937007873,&quot;width&quot;:569.2542519685038}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3_3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357.8713385826772,&quot;left&quot;:339.77527559055113,&quot;top&quot;:106.97503937007873,&quot;width&quot;:569.2542519685038}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3_1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357.8713385826772,&quot;left&quot;:339.77527559055113,&quot;top&quot;:106.97503937007873,&quot;width&quot;:569.2542519685038}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3_2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357.8713385826772,&quot;left&quot;:339.77527559055113,&quot;top&quot;:106.97503937007873,&quot;width&quot;:569.2542519685038}"/>
</p:tagLst>
</file>

<file path=ppt/tags/tag158.xml><?xml version="1.0" encoding="utf-8"?>
<p:tagLst xmlns:p="http://schemas.openxmlformats.org/presentationml/2006/main"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UNIT_PRESET_TEXT" val="单击此处添加文本内容"/>
  <p:tag name="KSO_WM_TEMPLATE_CATEGORY" val="custom"/>
  <p:tag name="KSO_WM_TEMPLATE_INDEX" val="20204587"/>
  <p:tag name="KSO_WM_UNIT_ID" val="custom20204587_4*l_h_f*1_3_1"/>
  <p:tag name="KSO_WM_UNIT_SUBTYPE" val="a"/>
  <p:tag name="KSO_WM_UNIT_TEXT_FILL_FORE_SCHEMECOLOR_INDEX" val="13"/>
  <p:tag name="KSO_WM_UNIT_TEXT_FILL_TYPE" val="1"/>
  <p:tag name="KSO_WM_UNIT_USESOURCEFORMAT_APPLY" val="1"/>
  <p:tag name="KSO_WM_DIAGRAM_VIRTUALLY_FRAME" val="{&quot;height&quot;:357.8713385826772,&quot;left&quot;:339.77527559055113,&quot;top&quot;:106.97503937007873,&quot;width&quot;:569.2542519685038}"/>
</p:tagLst>
</file>

<file path=ppt/tags/tag159.xml><?xml version="1.0" encoding="utf-8"?>
<p:tagLst xmlns:p="http://schemas.openxmlformats.org/presentationml/2006/main">
  <p:tag name="KSO_WM_UNIT_ISCONTENTSTITLE" val="1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LAYERLEVEL" val="1"/>
  <p:tag name="KSO_WM_TAG_VERSION" val="1.0"/>
  <p:tag name="KSO_WM_BEAUTIFY_FLAG" val="#wm#"/>
  <p:tag name="KSO_WM_UNIT_PRESET_TEXT" val="目录"/>
  <p:tag name="KSO_WM_TEMPLATE_CATEGORY" val="custom"/>
  <p:tag name="KSO_WM_TEMPLATE_INDEX" val="20204587"/>
  <p:tag name="KSO_WM_UNIT_ID" val="custom20204587_4*a*1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4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3_4"/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  <p:tag name="KSO_WM_DIAGRAM_VIRTUALLY_FRAME" val="{&quot;height&quot;:357.8713385826772,&quot;left&quot;:339.77527559055113,&quot;top&quot;:106.97503937007873,&quot;width&quot;:569.2542519685038}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3_3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357.8713385826772,&quot;left&quot;:339.77527559055113,&quot;top&quot;:106.97503937007873,&quot;width&quot;:569.2542519685038}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3_1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357.8713385826772,&quot;left&quot;:339.77527559055113,&quot;top&quot;:106.97503937007873,&quot;width&quot;:569.2542519685038}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LAYERLEVEL" val="1_1_1"/>
  <p:tag name="KSO_WM_TAG_VERSION" val="1.0"/>
  <p:tag name="KSO_WM_BEAUTIFY_FLAG" val="#wm#"/>
  <p:tag name="KSO_WM_TEMPLATE_CATEGORY" val="custom"/>
  <p:tag name="KSO_WM_TEMPLATE_INDEX" val="20204587"/>
  <p:tag name="KSO_WM_UNIT_ID" val="custom20204587_4*l_h_i*1_3_2"/>
  <p:tag name="KSO_WM_UNIT_FILL_FORE_SCHEMECOLOR_INDEX" val="14"/>
  <p:tag name="KSO_WM_UNIT_FILL_TYPE" val="1"/>
  <p:tag name="KSO_WM_UNIT_TEXT_FILL_FORE_SCHEMECOLOR_INDEX" val="13"/>
  <p:tag name="KSO_WM_UNIT_TEXT_FILL_TYPE" val="1"/>
  <p:tag name="KSO_WM_UNIT_USESOURCEFORMAT_APPLY" val="1"/>
  <p:tag name="KSO_WM_DIAGRAM_VIRTUALLY_FRAME" val="{&quot;height&quot;:357.8713385826772,&quot;left&quot;:339.77527559055113,&quot;top&quot;:106.97503937007873,&quot;width&quot;:569.2542519685038}"/>
</p:tagLst>
</file>

<file path=ppt/tags/tag164.xml><?xml version="1.0" encoding="utf-8"?>
<p:tagLst xmlns:p="http://schemas.openxmlformats.org/presentationml/2006/main"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LAYERLEVEL" val="1_1_1"/>
  <p:tag name="KSO_WM_TAG_VERSION" val="1.0"/>
  <p:tag name="KSO_WM_BEAUTIFY_FLAG" val="#wm#"/>
  <p:tag name="KSO_WM_UNIT_PRESET_TEXT" val="单击此处添加文本内容"/>
  <p:tag name="KSO_WM_TEMPLATE_CATEGORY" val="custom"/>
  <p:tag name="KSO_WM_TEMPLATE_INDEX" val="20204587"/>
  <p:tag name="KSO_WM_UNIT_ID" val="custom20204587_4*l_h_f*1_3_1"/>
  <p:tag name="KSO_WM_UNIT_SUBTYPE" val="a"/>
  <p:tag name="KSO_WM_UNIT_TEXT_FILL_FORE_SCHEMECOLOR_INDEX" val="13"/>
  <p:tag name="KSO_WM_UNIT_TEXT_FILL_TYPE" val="1"/>
  <p:tag name="KSO_WM_UNIT_USESOURCEFORMAT_APPLY" val="1"/>
  <p:tag name="KSO_WM_DIAGRAM_VIRTUALLY_FRAME" val="{&quot;height&quot;:357.8713385826772,&quot;left&quot;:339.77527559055113,&quot;top&quot;:106.97503937007873,&quot;width&quot;:569.2542519685038}"/>
</p:tagLst>
</file>

<file path=ppt/tags/tag165.xml><?xml version="1.0" encoding="utf-8"?>
<p:tagLst xmlns:p="http://schemas.openxmlformats.org/presentationml/2006/main">
  <p:tag name="KSO_WM_TEMPLATE_SUBCATEGORY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SLIDE_LAYOUT" val="a_b_l"/>
  <p:tag name="KSO_WM_SLIDE_LAYOUT_CNT" val="1_1_1"/>
  <p:tag name="KSO_WM_TEMPLATE_MASTER_TYPE" val="1"/>
  <p:tag name="KSO_WM_TEMPLATE_COLOR_TYPE" val="1"/>
  <p:tag name="KSO_WM_TEMPLATE_CATEGORY" val="custom"/>
  <p:tag name="KSO_WM_TEMPLATE_INDEX" val="20204587"/>
  <p:tag name="KSO_WM_SLIDE_ID" val="custom20204587_4"/>
</p:tagLst>
</file>

<file path=ppt/tags/tag166.xml><?xml version="1.0" encoding="utf-8"?>
<p:tagLst xmlns:p="http://schemas.openxmlformats.org/presentationml/2006/main">
  <p:tag name="KSO_WM_UNIT_ISCONTENTSTITLE" val="0"/>
  <p:tag name="KSO_WM_UNIT_ISNUMDGMTITLE" val="0"/>
  <p:tag name="KSO_WM_UNIT_PRESET_TEXT" val="请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27979_3*l_h_a*1_1_1"/>
  <p:tag name="KSO_WM_TEMPLATE_CATEGORY" val="diagram"/>
  <p:tag name="KSO_WM_TEMPLATE_INDEX" val="20227979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DIAGRAM_VIRTUALLY_FRAME" val="{&quot;height&quot;:467.5,&quot;left&quot;:13.55,&quot;top&quot;:30.85,&quot;width&quot;:945.45}"/>
</p:tagLst>
</file>

<file path=ppt/tags/tag167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7979_3*l_h_f*1_1_1"/>
  <p:tag name="KSO_WM_TEMPLATE_CATEGORY" val="diagram"/>
  <p:tag name="KSO_WM_TEMPLATE_INDEX" val="20227979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DIAGRAM_VIRTUALLY_FRAME" val="{&quot;height&quot;:467.5,&quot;left&quot;:13.55,&quot;top&quot;:30.85,&quot;width&quot;:945.45}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7979_3*l_h_i*1_1_1"/>
  <p:tag name="KSO_WM_TEMPLATE_CATEGORY" val="diagram"/>
  <p:tag name="KSO_WM_TEMPLATE_INDEX" val="20227979"/>
  <p:tag name="KSO_WM_UNIT_LAYERLEVEL" val="1_1_1"/>
  <p:tag name="KSO_WM_TAG_VERSION" val="1.0"/>
  <p:tag name="KSO_WM_BEAUTIFY_FLAG" val="#wm#"/>
  <p:tag name="KSO_WM_UNIT_LINE_FORE_SCHEMECOLOR_INDEX" val="10"/>
  <p:tag name="KSO_WM_UNIT_LINE_FILL_TYPE" val="2"/>
  <p:tag name="KSO_WM_DIAGRAM_VIRTUALLY_FRAME" val="{&quot;height&quot;:467.5,&quot;left&quot;:13.55,&quot;top&quot;:30.85,&quot;width&quot;:945.45}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27979_3*l_h_i*1_1_2"/>
  <p:tag name="KSO_WM_TEMPLATE_CATEGORY" val="diagram"/>
  <p:tag name="KSO_WM_TEMPLATE_INDEX" val="20227979"/>
  <p:tag name="KSO_WM_UNIT_LAYERLEVEL" val="1_1_1"/>
  <p:tag name="KSO_WM_TAG_VERSION" val="1.0"/>
  <p:tag name="KSO_WM_BEAUTIFY_FLAG" val="#wm#"/>
  <p:tag name="KSO_WM_UNIT_FILL_FORE_SCHEMECOLOR_INDEX" val="8"/>
  <p:tag name="KSO_WM_UNIT_TEXT_FILL_FORE_SCHEMECOLOR_INDEX" val="2"/>
  <p:tag name="KSO_WM_UNIT_TEXT_FILL_TYPE" val="1"/>
  <p:tag name="KSO_WM_DIAGRAM_VIRTUALLY_FRAME" val="{&quot;height&quot;:467.5,&quot;left&quot;:13.55,&quot;top&quot;:30.85,&quot;width&quot;:945.45}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27979_3*l_h_i*1_2_1"/>
  <p:tag name="KSO_WM_TEMPLATE_CATEGORY" val="diagram"/>
  <p:tag name="KSO_WM_TEMPLATE_INDEX" val="20227979"/>
  <p:tag name="KSO_WM_UNIT_LAYERLEVEL" val="1_1_1"/>
  <p:tag name="KSO_WM_TAG_VERSION" val="1.0"/>
  <p:tag name="KSO_WM_BEAUTIFY_FLAG" val="#wm#"/>
  <p:tag name="KSO_WM_UNIT_FILL_FORE_SCHEMECOLOR_INDEX" val="8"/>
  <p:tag name="KSO_WM_UNIT_TEXT_FILL_FORE_SCHEMECOLOR_INDEX" val="2"/>
  <p:tag name="KSO_WM_UNIT_TEXT_FILL_TYPE" val="1"/>
  <p:tag name="KSO_WM_DIAGRAM_VIRTUALLY_FRAME" val="{&quot;height&quot;:467.5,&quot;left&quot;:13.55,&quot;top&quot;:30.85,&quot;width&quot;:945.45}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27979_3*l_h_i*1_3_1"/>
  <p:tag name="KSO_WM_TEMPLATE_CATEGORY" val="diagram"/>
  <p:tag name="KSO_WM_TEMPLATE_INDEX" val="20227979"/>
  <p:tag name="KSO_WM_UNIT_LAYERLEVEL" val="1_1_1"/>
  <p:tag name="KSO_WM_TAG_VERSION" val="1.0"/>
  <p:tag name="KSO_WM_BEAUTIFY_FLAG" val="#wm#"/>
  <p:tag name="KSO_WM_UNIT_FILL_FORE_SCHEMECOLOR_INDEX" val="8"/>
  <p:tag name="KSO_WM_UNIT_TEXT_FILL_FORE_SCHEMECOLOR_INDEX" val="2"/>
  <p:tag name="KSO_WM_UNIT_TEXT_FILL_TYPE" val="1"/>
  <p:tag name="KSO_WM_DIAGRAM_VIRTUALLY_FRAME" val="{&quot;height&quot;:467.5,&quot;left&quot;:13.55,&quot;top&quot;:30.85,&quot;width&quot;:945.45}"/>
</p:tagLst>
</file>

<file path=ppt/tags/tag172.xml><?xml version="1.0" encoding="utf-8"?>
<p:tagLst xmlns:p="http://schemas.openxmlformats.org/presentationml/2006/main">
  <p:tag name="KSO_WM_UNIT_ISCONTENTSTITLE" val="0"/>
  <p:tag name="KSO_WM_UNIT_ISNUMDGMTITLE" val="0"/>
  <p:tag name="KSO_WM_UNIT_PRESET_TEXT" val="请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27979_3*l_h_a*1_3_1"/>
  <p:tag name="KSO_WM_TEMPLATE_CATEGORY" val="diagram"/>
  <p:tag name="KSO_WM_TEMPLATE_INDEX" val="20227979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DIAGRAM_VIRTUALLY_FRAME" val="{&quot;height&quot;:467.5,&quot;left&quot;:13.55,&quot;top&quot;:30.85,&quot;width&quot;:945.45}"/>
</p:tagLst>
</file>

<file path=ppt/tags/tag173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27979_3*l_h_f*1_3_1"/>
  <p:tag name="KSO_WM_TEMPLATE_CATEGORY" val="diagram"/>
  <p:tag name="KSO_WM_TEMPLATE_INDEX" val="20227979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DIAGRAM_VIRTUALLY_FRAME" val="{&quot;height&quot;:467.5,&quot;left&quot;:13.55,&quot;top&quot;:30.85,&quot;width&quot;:945.45}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27979_3*l_h_i*1_3_2"/>
  <p:tag name="KSO_WM_TEMPLATE_CATEGORY" val="diagram"/>
  <p:tag name="KSO_WM_TEMPLATE_INDEX" val="20227979"/>
  <p:tag name="KSO_WM_UNIT_LAYERLEVEL" val="1_1_1"/>
  <p:tag name="KSO_WM_TAG_VERSION" val="1.0"/>
  <p:tag name="KSO_WM_BEAUTIFY_FLAG" val="#wm#"/>
  <p:tag name="KSO_WM_UNIT_LINE_FORE_SCHEMECOLOR_INDEX" val="10"/>
  <p:tag name="KSO_WM_UNIT_LINE_FILL_TYPE" val="2"/>
  <p:tag name="KSO_WM_DIAGRAM_VIRTUALLY_FRAME" val="{&quot;height&quot;:467.5,&quot;left&quot;:13.55,&quot;top&quot;:30.85,&quot;width&quot;:945.45}"/>
</p:tagLst>
</file>

<file path=ppt/tags/tag175.xml><?xml version="1.0" encoding="utf-8"?>
<p:tagLst xmlns:p="http://schemas.openxmlformats.org/presentationml/2006/main">
  <p:tag name="KSO_WM_UNIT_ISCONTENTSTITLE" val="0"/>
  <p:tag name="KSO_WM_UNIT_ISNUMDGMTITLE" val="0"/>
  <p:tag name="KSO_WM_UNIT_PRESET_TEXT" val="请添加小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27979_3*l_h_a*1_2_1"/>
  <p:tag name="KSO_WM_TEMPLATE_CATEGORY" val="diagram"/>
  <p:tag name="KSO_WM_TEMPLATE_INDEX" val="20227979"/>
  <p:tag name="KSO_WM_UNIT_LAYERLEVEL" val="1_1_1"/>
  <p:tag name="KSO_WM_TAG_VERSION" val="1.0"/>
  <p:tag name="KSO_WM_BEAUTIFY_FLAG" val="#wm#"/>
  <p:tag name="KSO_WM_UNIT_TEXT_FILL_FORE_SCHEMECOLOR_INDEX" val="5"/>
  <p:tag name="KSO_WM_UNIT_TEXT_FILL_TYPE" val="1"/>
  <p:tag name="KSO_WM_DIAGRAM_VIRTUALLY_FRAME" val="{&quot;height&quot;:467.5,&quot;left&quot;:13.55,&quot;top&quot;:30.85,&quot;width&quot;:945.45}"/>
</p:tagLst>
</file>

<file path=ppt/tags/tag176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27979_3*l_h_f*1_2_1"/>
  <p:tag name="KSO_WM_TEMPLATE_CATEGORY" val="diagram"/>
  <p:tag name="KSO_WM_TEMPLATE_INDEX" val="20227979"/>
  <p:tag name="KSO_WM_UNIT_LAYERLEVEL" val="1_1_1"/>
  <p:tag name="KSO_WM_TAG_VERSION" val="1.0"/>
  <p:tag name="KSO_WM_BEAUTIFY_FLAG" val="#wm#"/>
  <p:tag name="KSO_WM_UNIT_TEXT_FILL_FORE_SCHEMECOLOR_INDEX" val="13"/>
  <p:tag name="KSO_WM_UNIT_TEXT_FILL_TYPE" val="1"/>
  <p:tag name="KSO_WM_DIAGRAM_VIRTUALLY_FRAME" val="{&quot;height&quot;:467.5,&quot;left&quot;:13.55,&quot;top&quot;:30.85,&quot;width&quot;:945.45}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27979_3*l_h_i*1_2_2"/>
  <p:tag name="KSO_WM_TEMPLATE_CATEGORY" val="diagram"/>
  <p:tag name="KSO_WM_TEMPLATE_INDEX" val="20227979"/>
  <p:tag name="KSO_WM_UNIT_LAYERLEVEL" val="1_1_1"/>
  <p:tag name="KSO_WM_TAG_VERSION" val="1.0"/>
  <p:tag name="KSO_WM_BEAUTIFY_FLAG" val="#wm#"/>
  <p:tag name="KSO_WM_UNIT_LINE_FORE_SCHEMECOLOR_INDEX" val="10"/>
  <p:tag name="KSO_WM_UNIT_LINE_FILL_TYPE" val="2"/>
  <p:tag name="KSO_WM_DIAGRAM_VIRTUALLY_FRAME" val="{&quot;height&quot;:467.5,&quot;left&quot;:13.55,&quot;top&quot;:30.85,&quot;width&quot;:945.45}"/>
</p:tagLst>
</file>

<file path=ppt/tags/tag178.xml><?xml version="1.0" encoding="utf-8"?>
<p:tagLst xmlns:p="http://schemas.openxmlformats.org/presentationml/2006/main">
  <p:tag name="KSO_WM_UNIT_VALUE" val="223*22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27979_3*l_h_x*1_1_1"/>
  <p:tag name="KSO_WM_TEMPLATE_CATEGORY" val="diagram"/>
  <p:tag name="KSO_WM_TEMPLATE_INDEX" val="20227979"/>
  <p:tag name="KSO_WM_UNIT_LAYERLEVEL" val="1_1_1"/>
  <p:tag name="KSO_WM_TAG_VERSION" val="1.0"/>
  <p:tag name="KSO_WM_BEAUTIFY_FLAG" val="#wm#"/>
  <p:tag name="KSO_WM_DIAGRAM_VIRTUALLY_FRAME" val="{&quot;height&quot;:467.5,&quot;left&quot;:13.55,&quot;top&quot;:30.85,&quot;width&quot;:945.45}"/>
</p:tagLst>
</file>

<file path=ppt/tags/tag179.xml><?xml version="1.0" encoding="utf-8"?>
<p:tagLst xmlns:p="http://schemas.openxmlformats.org/presentationml/2006/main">
  <p:tag name="KSO_WM_UNIT_VALUE" val="209*20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27979_3*l_h_x*1_2_1"/>
  <p:tag name="KSO_WM_TEMPLATE_CATEGORY" val="diagram"/>
  <p:tag name="KSO_WM_TEMPLATE_INDEX" val="20227979"/>
  <p:tag name="KSO_WM_UNIT_LAYERLEVEL" val="1_1_1"/>
  <p:tag name="KSO_WM_TAG_VERSION" val="1.0"/>
  <p:tag name="KSO_WM_BEAUTIFY_FLAG" val="#wm#"/>
  <p:tag name="KSO_WM_DIAGRAM_VIRTUALLY_FRAME" val="{&quot;height&quot;:467.5,&quot;left&quot;:13.55,&quot;top&quot;:30.85,&quot;width&quot;:945.45}"/>
</p:tagLst>
</file>

<file path=ppt/tags/tag180.xml><?xml version="1.0" encoding="utf-8"?>
<p:tagLst xmlns:p="http://schemas.openxmlformats.org/presentationml/2006/main">
  <p:tag name="KSO_WM_UNIT_VALUE" val="208*20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27979_3*l_h_x*1_3_1"/>
  <p:tag name="KSO_WM_TEMPLATE_CATEGORY" val="diagram"/>
  <p:tag name="KSO_WM_TEMPLATE_INDEX" val="20227979"/>
  <p:tag name="KSO_WM_UNIT_LAYERLEVEL" val="1_1_1"/>
  <p:tag name="KSO_WM_TAG_VERSION" val="1.0"/>
  <p:tag name="KSO_WM_BEAUTIFY_FLAG" val="#wm#"/>
  <p:tag name="KSO_WM_DIAGRAM_VIRTUALLY_FRAME" val="{&quot;height&quot;:467.5,&quot;left&quot;:13.55,&quot;top&quot;:30.85,&quot;width&quot;:945.45}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861_2*l_h_i*1_1_2"/>
  <p:tag name="KSO_WM_TEMPLATE_CATEGORY" val="diagram"/>
  <p:tag name="KSO_WM_TEMPLATE_INDEX" val="20231861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3"/>
  <p:tag name="KSO_WM_DIAGRAM_MIN_ITEMCNT" val="2"/>
  <p:tag name="KSO_WM_DIAGRAM_VIRTUALLY_FRAME" val="{&quot;height&quot;:357.1249969482422,&quot;left&quot;:58.6,&quot;top&quot;:60.97500305175781,&quot;width&quot;:843.8}"/>
  <p:tag name="KSO_WM_DIAGRAM_COLOR_MATCH_VALUE" val="{&quot;shape&quot;:{&quot;fill&quot;:{&quot;gradient&quot;:[{&quot;brightness&quot;:0,&quot;colorType&quot;:1,&quot;foreColorIndex&quot;:5,&quot;pos&quot;:1,&quot;transparency&quot;:1},{&quot;brightness&quot;:0,&quot;colorType&quot;:1,&quot;foreColorIndex&quot;:5,&quot;pos&quot;:1,&quot;transparency&quot;:0},{&quot;brightness&quot;:0.800000011920929,&quot;colorType&quot;:1,&quot;foreColorIndex&quot;:5,&quot;pos&quot;:0,&quot;transparency&quot;:0.8999999761581421}],&quot;type&quot;:3},&quot;glow&quot;:{&quot;colorType&quot;:0},&quot;line&quot;:{&quot;gradient&quot;:[{&quot;brightness&quot;:0,&quot;colorType&quot;:1,&quot;foreColorIndex&quot;:5,&quot;pos&quot;:0.20000000298023224,&quot;transparency&quot;:1},{&quot;brightness&quot;:0.4000000059604645,&quot;colorType&quot;:1,&quot;foreColorIndex&quot;:5,&quot;pos&quot;:1,&quot;transparency&quot;:0}],&quot;type&quot;:2},&quot;shadow&quot;:{&quot;brightness&quot;:-0.25,&quot;colorType&quot;:1,&quot;foreColorIndex&quot;:5,&quot;transparency&quot;:0.9300000071525574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92929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  <p:tag name="KSO_WM_BEAUTIFY_FLAG" val="#wm#"/>
  <p:tag name="KSO_WM_UNIT_FILL_TYPE" val="3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861_2*l_h_a*1_1_1"/>
  <p:tag name="KSO_WM_TEMPLATE_CATEGORY" val="diagram"/>
  <p:tag name="KSO_WM_TEMPLATE_INDEX" val="20231861"/>
  <p:tag name="KSO_WM_UNIT_LAYERLEVEL" val="1_1_1"/>
  <p:tag name="KSO_WM_TAG_VERSION" val="3.0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1_1"/>
  <p:tag name="KSO_WM_DIAGRAM_VERSION" val="3"/>
  <p:tag name="KSO_WM_DIAGRAM_COLOR_TRICK" val="1"/>
  <p:tag name="KSO_WM_DIAGRAM_COLOR_TEXT_CAN_REMOVE" val="n"/>
  <p:tag name="KSO_WM_UNIT_VALUE" val="10"/>
  <p:tag name="KSO_WM_UNIT_TEXT_TYPE" val="1"/>
  <p:tag name="KSO_WM_DIAGRAM_MAX_ITEMCNT" val="3"/>
  <p:tag name="KSO_WM_DIAGRAM_MIN_ITEMCNT" val="2"/>
  <p:tag name="KSO_WM_DIAGRAM_VIRTUALLY_FRAME" val="{&quot;height&quot;:357.1249969482422,&quot;left&quot;:58.6,&quot;top&quot;:60.97500305175781,&quot;width&quot;:843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  <p:tag name="KSO_WM_BEAUTIFY_FLAG" val="#wm#"/>
  <p:tag name="KSO_WM_UNIT_PRESET_TEXT" val="添加标题内容"/>
  <p:tag name="KSO_WM_UNIT_TEXT_FILL_FORE_SCHEMECOLOR_INDEX" val="1"/>
  <p:tag name="KSO_WM_UNIT_TEXT_FILL_TYPE" val="1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861_2*l_h_i*1_1_1"/>
  <p:tag name="KSO_WM_TEMPLATE_CATEGORY" val="diagram"/>
  <p:tag name="KSO_WM_TEMPLATE_INDEX" val="20231861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3"/>
  <p:tag name="KSO_WM_DIAGRAM_MIN_ITEMCNT" val="2"/>
  <p:tag name="KSO_WM_DIAGRAM_VIRTUALLY_FRAME" val="{&quot;height&quot;:357.1249969482422,&quot;left&quot;:58.6,&quot;top&quot;:60.97500305175781,&quot;width&quot;:843.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8999999761581421},{&quot;brightness&quot;:0,&quot;colorType&quot;:1,&quot;foreColorIndex&quot;:5,&quot;pos&quot;:1,&quot;transparency&quot;:0.2000000029802322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861_2*l_h_f*1_1_1"/>
  <p:tag name="KSO_WM_TEMPLATE_CATEGORY" val="diagram"/>
  <p:tag name="KSO_WM_TEMPLATE_INDEX" val="2023186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1_1"/>
  <p:tag name="KSO_WM_DIAGRAM_VERSION" val="3"/>
  <p:tag name="KSO_WM_DIAGRAM_COLOR_TRICK" val="1"/>
  <p:tag name="KSO_WM_DIAGRAM_COLOR_TEXT_CAN_REMOVE" val="n"/>
  <p:tag name="KSO_WM_UNIT_VALUE" val="96"/>
  <p:tag name="KSO_WM_UNIT_TEXT_TYPE" val="1"/>
  <p:tag name="KSO_WM_DIAGRAM_MAX_ITEMCNT" val="3"/>
  <p:tag name="KSO_WM_DIAGRAM_MIN_ITEMCNT" val="2"/>
  <p:tag name="KSO_WM_DIAGRAM_VIRTUALLY_FRAME" val="{&quot;height&quot;:357.1249969482422,&quot;left&quot;:58.6,&quot;top&quot;:60.97500305175781,&quot;width&quot;:843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  <p:tag name="KSO_WM_UNIT_TEXT_LAYER_COUNT" val="1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TEXT_FILL_FORE_SCHEMECOLOR_INDEX" val="1"/>
  <p:tag name="KSO_WM_UNIT_TEXT_FILL_TYPE" val="1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861_2*l_h_i*1_3_2"/>
  <p:tag name="KSO_WM_TEMPLATE_CATEGORY" val="diagram"/>
  <p:tag name="KSO_WM_TEMPLATE_INDEX" val="20231861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3"/>
  <p:tag name="KSO_WM_DIAGRAM_MIN_ITEMCNT" val="2"/>
  <p:tag name="KSO_WM_DIAGRAM_VIRTUALLY_FRAME" val="{&quot;height&quot;:357.1249969482422,&quot;left&quot;:58.6,&quot;top&quot;:60.97500305175781,&quot;width&quot;:843.8}"/>
  <p:tag name="KSO_WM_DIAGRAM_COLOR_MATCH_VALUE" val="{&quot;shape&quot;:{&quot;fill&quot;:{&quot;gradient&quot;:[{&quot;brightness&quot;:0,&quot;colorType&quot;:1,&quot;foreColorIndex&quot;:5,&quot;pos&quot;:1,&quot;transparency&quot;:1},{&quot;brightness&quot;:0,&quot;colorType&quot;:1,&quot;foreColorIndex&quot;:5,&quot;pos&quot;:1,&quot;transparency&quot;:0},{&quot;brightness&quot;:0.800000011920929,&quot;colorType&quot;:1,&quot;foreColorIndex&quot;:5,&quot;pos&quot;:0,&quot;transparency&quot;:0.8999999761581421}],&quot;type&quot;:3},&quot;glow&quot;:{&quot;colorType&quot;:0},&quot;line&quot;:{&quot;gradient&quot;:[{&quot;brightness&quot;:0,&quot;colorType&quot;:1,&quot;foreColorIndex&quot;:5,&quot;pos&quot;:0.20000000298023224,&quot;transparency&quot;:1},{&quot;brightness&quot;:0.4000000059604645,&quot;colorType&quot;:1,&quot;foreColorIndex&quot;:5,&quot;pos&quot;:1,&quot;transparency&quot;:0}],&quot;type&quot;:2},&quot;shadow&quot;:{&quot;brightness&quot;:-0.25,&quot;colorType&quot;:1,&quot;foreColorIndex&quot;:5,&quot;transparency&quot;:0.9300000071525574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92929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  <p:tag name="KSO_WM_BEAUTIFY_FLAG" val="#wm#"/>
  <p:tag name="KSO_WM_UNIT_FILL_TYPE" val="3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861_2*l_h_a*1_3_1"/>
  <p:tag name="KSO_WM_TEMPLATE_CATEGORY" val="diagram"/>
  <p:tag name="KSO_WM_TEMPLATE_INDEX" val="20231861"/>
  <p:tag name="KSO_WM_UNIT_LAYERLEVEL" val="1_1_1"/>
  <p:tag name="KSO_WM_TAG_VERSION" val="3.0"/>
  <p:tag name="KSO_WM_UNIT_ISCONTENTSTITLE" val="0"/>
  <p:tag name="KSO_WM_UNIT_ISNUMDGMTITLE" val="0"/>
  <p:tag name="KSO_WM_UNIT_NOCLEAR" val="0"/>
  <p:tag name="KSO_WM_DIAGRAM_GROUP_CODE" val="l1-1"/>
  <p:tag name="KSO_WM_UNIT_TYPE" val="l_h_a"/>
  <p:tag name="KSO_WM_UNIT_INDEX" val="1_3_1"/>
  <p:tag name="KSO_WM_DIAGRAM_VERSION" val="3"/>
  <p:tag name="KSO_WM_DIAGRAM_COLOR_TRICK" val="1"/>
  <p:tag name="KSO_WM_DIAGRAM_COLOR_TEXT_CAN_REMOVE" val="n"/>
  <p:tag name="KSO_WM_UNIT_VALUE" val="10"/>
  <p:tag name="KSO_WM_UNIT_TEXT_TYPE" val="1"/>
  <p:tag name="KSO_WM_DIAGRAM_MAX_ITEMCNT" val="3"/>
  <p:tag name="KSO_WM_DIAGRAM_MIN_ITEMCNT" val="2"/>
  <p:tag name="KSO_WM_DIAGRAM_VIRTUALLY_FRAME" val="{&quot;height&quot;:357.1249969482422,&quot;left&quot;:58.6,&quot;top&quot;:60.97500305175781,&quot;width&quot;:843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  <p:tag name="KSO_WM_BEAUTIFY_FLAG" val="#wm#"/>
  <p:tag name="KSO_WM_UNIT_PRESET_TEXT" val="添加标题内容"/>
  <p:tag name="KSO_WM_UNIT_TEXT_FILL_FORE_SCHEMECOLOR_INDEX" val="1"/>
  <p:tag name="KSO_WM_UNIT_TEXT_FILL_TYPE" val="1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861_2*l_h_i*1_3_1"/>
  <p:tag name="KSO_WM_TEMPLATE_CATEGORY" val="diagram"/>
  <p:tag name="KSO_WM_TEMPLATE_INDEX" val="20231861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3"/>
  <p:tag name="KSO_WM_DIAGRAM_MIN_ITEMCNT" val="2"/>
  <p:tag name="KSO_WM_DIAGRAM_VIRTUALLY_FRAME" val="{&quot;height&quot;:357.1249969482422,&quot;left&quot;:58.6,&quot;top&quot;:60.97500305175781,&quot;width&quot;:843.8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.8999999761581421},{&quot;brightness&quot;:0,&quot;colorType&quot;:1,&quot;foreColorIndex&quot;:5,&quot;pos&quot;:1,&quot;transparency&quot;:0.2000000029802322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861_2*l_h_f*1_3_1"/>
  <p:tag name="KSO_WM_TEMPLATE_CATEGORY" val="diagram"/>
  <p:tag name="KSO_WM_TEMPLATE_INDEX" val="20231861"/>
  <p:tag name="KSO_WM_UNIT_LAYERLEVEL" val="1_1_1"/>
  <p:tag name="KSO_WM_TAG_VERSION" val="3.0"/>
  <p:tag name="KSO_WM_UNIT_SUBTYPE" val="a"/>
  <p:tag name="KSO_WM_UNIT_NOCLEAR" val="0"/>
  <p:tag name="KSO_WM_DIAGRAM_GROUP_CODE" val="l1-1"/>
  <p:tag name="KSO_WM_UNIT_TYPE" val="l_h_f"/>
  <p:tag name="KSO_WM_UNIT_INDEX" val="1_3_1"/>
  <p:tag name="KSO_WM_DIAGRAM_VERSION" val="3"/>
  <p:tag name="KSO_WM_DIAGRAM_COLOR_TRICK" val="1"/>
  <p:tag name="KSO_WM_DIAGRAM_COLOR_TEXT_CAN_REMOVE" val="n"/>
  <p:tag name="KSO_WM_UNIT_VALUE" val="96"/>
  <p:tag name="KSO_WM_UNIT_TEXT_TYPE" val="1"/>
  <p:tag name="KSO_WM_DIAGRAM_MAX_ITEMCNT" val="3"/>
  <p:tag name="KSO_WM_DIAGRAM_MIN_ITEMCNT" val="2"/>
  <p:tag name="KSO_WM_DIAGRAM_VIRTUALLY_FRAME" val="{&quot;height&quot;:357.1249969482422,&quot;left&quot;:58.6,&quot;top&quot;:60.97500305175781,&quot;width&quot;:843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  <p:tag name="KSO_WM_UNIT_TEXT_LAYER_COUNT" val="1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TEXT_FILL_FORE_SCHEMECOLOR_INDEX" val="1"/>
  <p:tag name="KSO_WM_UNIT_TEXT_FILL_TYPE" val="1"/>
</p:tagLst>
</file>

<file path=ppt/tags/tag189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3*l_h_i*1_1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90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3*l_h_i*1_1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91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3*l_h_f*1_1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SUBTYPE" val="a"/>
  <p:tag name="KSO_WM_UNIT_NOCLEAR" val="0"/>
  <p:tag name="KSO_WM_UNIT_TYPE" val="l_h_f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VALUE" val="112"/>
  <p:tag name="KSO_WM_BEAUTIFY_FLAG" val="#wm#"/>
  <p:tag name="KSO_WM_UNIT_PRESET_TEXT" val="单击此处添加你的文本具体内容，简明扼要地阐述您的观点。根据需要可酌情增减文字，以便观者准确地理解您传达的思想。单击此处添加你的文本具体内容，简明扼要地阐述您的观点。根据需要可酌情增减文字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3205_3*l_h_a*1_1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6.54998779296875,&quot;left&quot;:46.35,&quot;top&quot;:74.02500610351562,&quot;width&quot;:846.574993896484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3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3*l_h_i*1_1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94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3*l_h_i*1_1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95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3*l_h_i*1_2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96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3*l_h_i*1_2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197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3*l_h_i*1_2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98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3*l_h_i*1_2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199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3*l_h_f*1_2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SUBTYPE" val="a"/>
  <p:tag name="KSO_WM_UNIT_NOCLEAR" val="0"/>
  <p:tag name="KSO_WM_UNIT_TYPE" val="l_h_f"/>
  <p:tag name="KSO_WM_UNIT_INDEX" val="1_2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VALUE" val="112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3205_3*l_h_a*1_2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6.54998779296875,&quot;left&quot;:46.35,&quot;top&quot;:74.02500610351562,&quot;width&quot;:846.574993896484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01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3*l_h_i*1_3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02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3*l_h_i*1_3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03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3*l_h_i*1_3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04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3*l_h_i*1_3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05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3*l_h_f*1_3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SUBTYPE" val="a"/>
  <p:tag name="KSO_WM_UNIT_NOCLEAR" val="0"/>
  <p:tag name="KSO_WM_UNIT_TYPE" val="l_h_f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VALUE" val="112"/>
  <p:tag name="KSO_WM_BEAUTIFY_FLAG" val="#wm#"/>
  <p:tag name="KSO_WM_UNIT_PRESET_TEXT" val="单击此处添加你的文本具体内容，简明扼要地阐述您的观点。根据需要可酌情增减文字，以便观者准确地理解您传达的思想。单击此处添加你的文本具体内容，简明扼要地阐述您的观点。根据需要可酌情增减文字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3205_3*l_h_a*1_3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6.54998779296875,&quot;left&quot;:46.35,&quot;top&quot;:74.02500610351562,&quot;width&quot;:846.574993896484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07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3*l_h_i*1_4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4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08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3*l_h_i*1_4_4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4_4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09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3*l_h_i*1_4_3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4_3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10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3*l_h_i*1_4_2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TYPE" val="l_h_i"/>
  <p:tag name="KSO_WM_UNIT_INDEX" val="1_4_2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11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HIGHLIGHT" val="0"/>
  <p:tag name="KSO_WM_UNIT_COMPATIBLE" val="0"/>
  <p:tag name="KSO_WM_UNIT_DIAGRAM_ISNUMVISUAL" val="0"/>
  <p:tag name="KSO_WM_UNIT_DIAGRAM_ISREFERUNIT" val="0"/>
  <p:tag name="KSO_WM_UNIT_ID" val="diagram20233205_3*l_h_f*1_4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SUBTYPE" val="a"/>
  <p:tag name="KSO_WM_UNIT_NOCLEAR" val="0"/>
  <p:tag name="KSO_WM_UNIT_TYPE" val="l_h_f"/>
  <p:tag name="KSO_WM_UNIT_INDEX" val="1_4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VALUE" val="112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diagram20233205_3*l_h_a*1_4_1"/>
  <p:tag name="KSO_WM_TEMPLATE_CATEGORY" val="diagram"/>
  <p:tag name="KSO_WM_TEMPLATE_INDEX" val="20233205"/>
  <p:tag name="KSO_WM_UNIT_LAYERLEVEL" val="1_1_1"/>
  <p:tag name="KSO_WM_TAG_VERSION" val="3.0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6.54998779296875,&quot;left&quot;:46.35,&quot;top&quot;:74.02500610351562,&quot;width&quot;:846.5749938964843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UNIT_PRESET_TEXT" val="单击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205_3*l_h_x*1_1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VALUE" val="80*69"/>
  <p:tag name="KSO_WM_UNIT_TYPE" val="l_h_x"/>
  <p:tag name="KSO_WM_UNIT_INDEX" val="1_1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6.54998779296875,&quot;left&quot;:46.35,&quot;top&quot;:74.02500610351562,&quot;width&quot;:846.574993896484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14.xml><?xml version="1.0" encoding="utf-8"?>
<p:tagLst xmlns:p="http://schemas.openxmlformats.org/presentationml/2006/main">
  <p:tag name="KSO_WM_DIAGRAM_VIRTUALLY_FRAME" val="{&quot;height&quot;:376.54998779296875,&quot;left&quot;:46.35,&quot;top&quot;:74.02500610351562,&quot;width&quot;:846.5749938964843}"/>
  <p:tag name="KSO_WM_UNIT_VALUE" val="90*8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3205_3*l_h_x*1_2_1"/>
  <p:tag name="KSO_WM_TEMPLATE_CATEGORY" val="diagram"/>
  <p:tag name="KSO_WM_TEMPLATE_INDEX" val="20233205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3205_3*l_h_x*1_3_1"/>
  <p:tag name="KSO_WM_TEMPLATE_CATEGORY" val="diagram"/>
  <p:tag name="KSO_WM_TEMPLATE_INDEX" val="20233205"/>
  <p:tag name="KSO_WM_UNIT_LAYERLEVEL" val="1_1_1"/>
  <p:tag name="KSO_WM_TAG_VERSION" val="3.0"/>
  <p:tag name="KSO_WM_DIAGRAM_GROUP_CODE" val="l1-1"/>
  <p:tag name="KSO_WM_UNIT_VALUE" val="64*80"/>
  <p:tag name="KSO_WM_UNIT_TYPE" val="l_h_x"/>
  <p:tag name="KSO_WM_UNIT_INDEX" val="1_3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6.54998779296875,&quot;left&quot;:46.35,&quot;top&quot;:74.02500610351562,&quot;width&quot;:846.574993896484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3205_3*l_h_x*1_4_1"/>
  <p:tag name="KSO_WM_TEMPLATE_CATEGORY" val="diagram"/>
  <p:tag name="KSO_WM_TEMPLATE_INDEX" val="20233205"/>
  <p:tag name="KSO_WM_UNIT_LAYERLEVEL" val="1_1_1"/>
  <p:tag name="KSO_WM_TAG_VERSION" val="3.0"/>
  <p:tag name="KSO_WM_UNIT_VALUE" val="80*80"/>
  <p:tag name="KSO_WM_UNIT_TYPE" val="l_h_x"/>
  <p:tag name="KSO_WM_UNIT_INDEX" val="1_4_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76.54998779296875,&quot;left&quot;:46.35,&quot;top&quot;:74.02500610351562,&quot;width&quot;:846.5749938964843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FILL_TYPE" val="1"/>
  <p:tag name="KSO_WM_UNIT_FILL_FORE_SCHEMECOLOR_INDEX" val="14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63_1*l_h_a*1_1_1"/>
  <p:tag name="KSO_WM_TEMPLATE_CATEGORY" val="diagram"/>
  <p:tag name="KSO_WM_TEMPLATE_INDEX" val="20231963"/>
  <p:tag name="KSO_WM_UNIT_LAYERLEVEL" val="1_1_1"/>
  <p:tag name="KSO_WM_TAG_VERSION" val="3.0"/>
  <p:tag name="KSO_WM_UNIT_TEXT_FILL_FORE_SCHEMECOLOR_INDEX_BRIGHTNESS" val="0"/>
  <p:tag name="KSO_WM_UNIT_VALUE" val="13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BEAUTIFY_FLAG" val="#wm#"/>
  <p:tag name="KSO_WM_UNIT_PRESET_TEXT" val="添加标题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1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63_1*l_h_f*1_1_1"/>
  <p:tag name="KSO_WM_TEMPLATE_CATEGORY" val="diagram"/>
  <p:tag name="KSO_WM_TEMPLATE_INDEX" val="20231963"/>
  <p:tag name="KSO_WM_UNIT_LAYERLEVEL" val="1_1_1"/>
  <p:tag name="KSO_WM_TAG_VERSION" val="3.0"/>
  <p:tag name="KSO_WM_UNIT_TEXT_FILL_FORE_SCHEMECOLOR_INDEX_BRIGHTNESS" val="0.5"/>
  <p:tag name="KSO_WM_UNIT_VALUE" val="6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UNIT_TEXT_LAYER_COUNT" val="1"/>
  <p:tag name="KSO_WM_BEAUTIFY_FLAG" val="#wm#"/>
  <p:tag name="KSO_WM_UNIT_PRESET_TEXT" val="单击此处输入你的项正文，文字是您思想的提炼，单击此处文本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1963_1*l_h_i*1_1_1"/>
  <p:tag name="KSO_WM_TEMPLATE_CATEGORY" val="diagram"/>
  <p:tag name="KSO_WM_TEMPLATE_INDEX" val="20231963"/>
  <p:tag name="KSO_WM_UNIT_LAYERLEVEL" val="1_1_1"/>
  <p:tag name="KSO_WM_TAG_VERSION" val="3.0"/>
  <p:tag name="KSO_WM_UNIT_LINE_FORE_SCHEMECOLOR_INDEX_BRIGHTNESS" val="0"/>
  <p:tag name="KSO_WM_UNIT_LINE_FILL_TYPE" val="2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963_1*l_h_i*1_1_2"/>
  <p:tag name="KSO_WM_TEMPLATE_CATEGORY" val="diagram"/>
  <p:tag name="KSO_WM_TEMPLATE_INDEX" val="20231963"/>
  <p:tag name="KSO_WM_UNIT_LAYERLEVEL" val="1_1_1"/>
  <p:tag name="KSO_WM_TAG_VERSION" val="3.0"/>
  <p:tag name="KSO_WM_UNIT_FILL_FORE_SCHEMECOLOR_INDEX_1_BRIGHTNESS" val="0.6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8"/>
  <p:tag name="KSO_WM_UNIT_FILL_FORE_SCHEMECOLOR_INDEX_2_POS" val="0.51"/>
  <p:tag name="KSO_WM_UNIT_FILL_FORE_SCHEMECOLOR_INDEX_2_TRANS" val="0"/>
  <p:tag name="KSO_WM_UNIT_FILL_FORE_SCHEMECOLOR_INDEX_3_BRIGHTNESS" val="0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63_1*l_h_i*1_2_2"/>
  <p:tag name="KSO_WM_TEMPLATE_CATEGORY" val="diagram"/>
  <p:tag name="KSO_WM_TEMPLATE_INDEX" val="20231963"/>
  <p:tag name="KSO_WM_UNIT_LAYERLEVEL" val="1_1_1"/>
  <p:tag name="KSO_WM_TAG_VERSION" val="3.0"/>
  <p:tag name="KSO_WM_UNIT_FILL_FORE_SCHEMECOLOR_INDEX_1_BRIGHTNESS" val="0.6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8"/>
  <p:tag name="KSO_WM_UNIT_FILL_FORE_SCHEMECOLOR_INDEX_2_POS" val="0.51"/>
  <p:tag name="KSO_WM_UNIT_FILL_FORE_SCHEMECOLOR_INDEX_2_TRANS" val="0"/>
  <p:tag name="KSO_WM_UNIT_FILL_FORE_SCHEMECOLOR_INDEX_3_BRIGHTNESS" val="0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1963_1*l_h_i*1_4_2"/>
  <p:tag name="KSO_WM_TEMPLATE_CATEGORY" val="diagram"/>
  <p:tag name="KSO_WM_TEMPLATE_INDEX" val="20231963"/>
  <p:tag name="KSO_WM_UNIT_LAYERLEVEL" val="1_1_1"/>
  <p:tag name="KSO_WM_TAG_VERSION" val="3.0"/>
  <p:tag name="KSO_WM_UNIT_FILL_FORE_SCHEMECOLOR_INDEX_1_BRIGHTNESS" val="0.6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8"/>
  <p:tag name="KSO_WM_UNIT_FILL_FORE_SCHEMECOLOR_INDEX_2_POS" val="0.51"/>
  <p:tag name="KSO_WM_UNIT_FILL_FORE_SCHEMECOLOR_INDEX_2_TRANS" val="0"/>
  <p:tag name="KSO_WM_UNIT_FILL_FORE_SCHEMECOLOR_INDEX_3_BRIGHTNESS" val="0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963_1*l_h_i*1_3_2"/>
  <p:tag name="KSO_WM_TEMPLATE_CATEGORY" val="diagram"/>
  <p:tag name="KSO_WM_TEMPLATE_INDEX" val="20231963"/>
  <p:tag name="KSO_WM_UNIT_LAYERLEVEL" val="1_1_1"/>
  <p:tag name="KSO_WM_TAG_VERSION" val="3.0"/>
  <p:tag name="KSO_WM_UNIT_FILL_FORE_SCHEMECOLOR_INDEX_1_BRIGHTNESS" val="0.6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8"/>
  <p:tag name="KSO_WM_UNIT_FILL_FORE_SCHEMECOLOR_INDEX_2_POS" val="0.51"/>
  <p:tag name="KSO_WM_UNIT_FILL_FORE_SCHEMECOLOR_INDEX_2_TRANS" val="0"/>
  <p:tag name="KSO_WM_UNIT_FILL_FORE_SCHEMECOLOR_INDEX_3_BRIGHTNESS" val="0"/>
  <p:tag name="KSO_WM_UNIT_FILL_FORE_SCHEMECOLOR_INDEX_3" val="8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TEXT_FILL_TYPE" val="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1963_1*l_h_a*1_4_1"/>
  <p:tag name="KSO_WM_TEMPLATE_CATEGORY" val="diagram"/>
  <p:tag name="KSO_WM_TEMPLATE_INDEX" val="20231963"/>
  <p:tag name="KSO_WM_UNIT_LAYERLEVEL" val="1_1_1"/>
  <p:tag name="KSO_WM_TAG_VERSION" val="3.0"/>
  <p:tag name="KSO_WM_UNIT_TEXT_FILL_FORE_SCHEMECOLOR_INDEX_BRIGHTNESS" val="0"/>
  <p:tag name="KSO_WM_UNIT_VALUE" val="13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BEAUTIFY_FLAG" val="#wm#"/>
  <p:tag name="KSO_WM_UNIT_PRESET_TEXT" val="添加标题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2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963_1*l_h_f*1_4_1"/>
  <p:tag name="KSO_WM_TEMPLATE_CATEGORY" val="diagram"/>
  <p:tag name="KSO_WM_TEMPLATE_INDEX" val="20231963"/>
  <p:tag name="KSO_WM_UNIT_LAYERLEVEL" val="1_1_1"/>
  <p:tag name="KSO_WM_TAG_VERSION" val="3.0"/>
  <p:tag name="KSO_WM_UNIT_TEXT_FILL_FORE_SCHEMECOLOR_INDEX_BRIGHTNESS" val="0.5"/>
  <p:tag name="KSO_WM_UNIT_VALUE" val="6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UNIT_TEXT_LAYER_COUNT" val="1"/>
  <p:tag name="KSO_WM_BEAUTIFY_FLAG" val="#wm#"/>
  <p:tag name="KSO_WM_UNIT_PRESET_TEXT" val="单击此处输入你的项正文，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diagram20231963_1*l_h_i*1_4_1"/>
  <p:tag name="KSO_WM_TEMPLATE_CATEGORY" val="diagram"/>
  <p:tag name="KSO_WM_TEMPLATE_INDEX" val="20231963"/>
  <p:tag name="KSO_WM_UNIT_LAYERLEVEL" val="1_1_1"/>
  <p:tag name="KSO_WM_TAG_VERSION" val="3.0"/>
  <p:tag name="KSO_WM_UNIT_LINE_FORE_SCHEMECOLOR_INDEX_BRIGHTNESS" val="0"/>
  <p:tag name="KSO_WM_UNIT_LINE_FILL_TYPE" val="2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63_1*l_h_a*1_2_1"/>
  <p:tag name="KSO_WM_TEMPLATE_CATEGORY" val="diagram"/>
  <p:tag name="KSO_WM_TEMPLATE_INDEX" val="20231963"/>
  <p:tag name="KSO_WM_UNIT_LAYERLEVEL" val="1_1_1"/>
  <p:tag name="KSO_WM_TAG_VERSION" val="3.0"/>
  <p:tag name="KSO_WM_UNIT_TEXT_FILL_FORE_SCHEMECOLOR_INDEX_BRIGHTNESS" val="0"/>
  <p:tag name="KSO_WM_UNIT_VALUE" val="13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BEAUTIFY_FLAG" val="#wm#"/>
  <p:tag name="KSO_WM_UNIT_PRESET_TEXT" val="添加标题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1963_1*l_h_i*1_2_1"/>
  <p:tag name="KSO_WM_TEMPLATE_CATEGORY" val="diagram"/>
  <p:tag name="KSO_WM_TEMPLATE_INDEX" val="20231963"/>
  <p:tag name="KSO_WM_UNIT_LAYERLEVEL" val="1_1_1"/>
  <p:tag name="KSO_WM_TAG_VERSION" val="3.0"/>
  <p:tag name="KSO_WM_UNIT_LINE_FORE_SCHEMECOLOR_INDEX_BRIGHTNESS" val="0"/>
  <p:tag name="KSO_WM_UNIT_LINE_FILL_TYPE" val="2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963_1*l_h_a*1_3_1"/>
  <p:tag name="KSO_WM_TEMPLATE_CATEGORY" val="diagram"/>
  <p:tag name="KSO_WM_TEMPLATE_INDEX" val="20231963"/>
  <p:tag name="KSO_WM_UNIT_LAYERLEVEL" val="1_1_1"/>
  <p:tag name="KSO_WM_TAG_VERSION" val="3.0"/>
  <p:tag name="KSO_WM_UNIT_TEXT_FILL_FORE_SCHEMECOLOR_INDEX_BRIGHTNESS" val="0"/>
  <p:tag name="KSO_WM_UNIT_VALUE" val="13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BEAUTIFY_FLAG" val="#wm#"/>
  <p:tag name="KSO_WM_UNIT_PRESET_TEXT" val="添加标题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1963_1*l_h_i*1_3_1"/>
  <p:tag name="KSO_WM_TEMPLATE_CATEGORY" val="diagram"/>
  <p:tag name="KSO_WM_TEMPLATE_INDEX" val="20231963"/>
  <p:tag name="KSO_WM_UNIT_LAYERLEVEL" val="1_1_1"/>
  <p:tag name="KSO_WM_TAG_VERSION" val="3.0"/>
  <p:tag name="KSO_WM_UNIT_LINE_FORE_SCHEMECOLOR_INDEX_BRIGHTNESS" val="0"/>
  <p:tag name="KSO_WM_UNIT_LINE_FILL_TYPE" val="2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  <p:tag name="KSO_WM_BEAUTIFY_FLAG" val="#wm#"/>
  <p:tag name="KSO_WM_UNIT_LINE_FORE_SCHEMECOLOR_INDEX" val="5"/>
  <p:tag name="KSO_WM_DIAGRAM_USE_COLOR_VALUE" val="{&quot;color_scheme&quot;:1,&quot;color_type&quot;:1,&quot;theme_color_indexes&quot;:[5,6,5,6,5,6]}"/>
</p:tagLst>
</file>

<file path=ppt/tags/tag231.xml><?xml version="1.0" encoding="utf-8"?>
<p:tagLst xmlns:p="http://schemas.openxmlformats.org/presentationml/2006/main">
  <p:tag name="KSO_WM_UNIT_VALUE" val="223*22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1963_1*l_h_x*1_1_1"/>
  <p:tag name="KSO_WM_TEMPLATE_CATEGORY" val="diagram"/>
  <p:tag name="KSO_WM_TEMPLATE_INDEX" val="2023196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UNIT_USESOURCEFORMAT_APPLY" val="1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diagram20231963_1*l_i*1_1"/>
  <p:tag name="KSO_WM_TEMPLATE_CATEGORY" val="diagram"/>
  <p:tag name="KSO_WM_TEMPLATE_INDEX" val="20231963"/>
  <p:tag name="KSO_WM_UNIT_LAYERLEVEL" val="1_1"/>
  <p:tag name="KSO_WM_TAG_VERSION" val="3.0"/>
  <p:tag name="KSO_WM_UNIT_TEXT_FILL_FORE_SCHEMECOLOR_INDEX_BRIGHTNESS" val="0"/>
  <p:tag name="KSO_WM_UNIT_TEXT_FILL_TYPE" val="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DIAGRAM_COLOR_MATCH_VALUE" val="{&quot;shape&quot;:{&quot;fill&quot;:{&quot;solid&quot;:{&quot;brightness&quot;:0,&quot;colorType&quot;:1,&quot;foreColorIndex&quot;:5,&quot;transparency&quot;:0.6399999856948853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BEAUTIFY_FLAG" val="#wm#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233.xml><?xml version="1.0" encoding="utf-8"?>
<p:tagLst xmlns:p="http://schemas.openxmlformats.org/presentationml/2006/main">
  <p:tag name="KSO_WM_UNIT_VALUE" val="208*20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4_1"/>
  <p:tag name="KSO_WM_UNIT_ID" val="diagram20231963_1*l_h_x*1_4_1"/>
  <p:tag name="KSO_WM_TEMPLATE_CATEGORY" val="diagram"/>
  <p:tag name="KSO_WM_TEMPLATE_INDEX" val="2023196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UNIT_USESOURCEFORMAT_APPLY" val="1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234.xml><?xml version="1.0" encoding="utf-8"?>
<p:tagLst xmlns:p="http://schemas.openxmlformats.org/presentationml/2006/main">
  <p:tag name="KSO_WM_UNIT_VALUE" val="209*20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1963_1*l_h_x*1_2_1"/>
  <p:tag name="KSO_WM_TEMPLATE_CATEGORY" val="diagram"/>
  <p:tag name="KSO_WM_TEMPLATE_INDEX" val="2023196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UNIT_USESOURCEFORMAT_APPLY" val="1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235.xml><?xml version="1.0" encoding="utf-8"?>
<p:tagLst xmlns:p="http://schemas.openxmlformats.org/presentationml/2006/main">
  <p:tag name="KSO_WM_UNIT_VALUE" val="200*20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1963_1*l_h_x*1_3_1"/>
  <p:tag name="KSO_WM_TEMPLATE_CATEGORY" val="diagram"/>
  <p:tag name="KSO_WM_TEMPLATE_INDEX" val="2023196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UNIT_USESOURCEFORMAT_APPLY" val="1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DIAGRAM_USE_COLOR_VALUE" val="{&quot;color_scheme&quot;:1,&quot;color_type&quot;:1,&quot;theme_color_indexes&quot;:[5,6,5,6,5,6]}"/>
</p:tagLst>
</file>

<file path=ppt/tags/tag23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63_1*l_h_f*1_2_1"/>
  <p:tag name="KSO_WM_TEMPLATE_CATEGORY" val="diagram"/>
  <p:tag name="KSO_WM_TEMPLATE_INDEX" val="20231963"/>
  <p:tag name="KSO_WM_UNIT_LAYERLEVEL" val="1_1_1"/>
  <p:tag name="KSO_WM_TAG_VERSION" val="3.0"/>
  <p:tag name="KSO_WM_UNIT_TEXT_FILL_FORE_SCHEMECOLOR_INDEX_BRIGHTNESS" val="0.5"/>
  <p:tag name="KSO_WM_UNIT_VALUE" val="6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UNIT_TEXT_LAYER_COUNT" val="1"/>
  <p:tag name="KSO_WM_BEAUTIFY_FLAG" val="#wm#"/>
  <p:tag name="KSO_WM_UNIT_PRESET_TEXT" val="单击此处输入你的项正文内容，文字是您思想的提炼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3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963_1*l_h_f*1_3_1"/>
  <p:tag name="KSO_WM_TEMPLATE_CATEGORY" val="diagram"/>
  <p:tag name="KSO_WM_TEMPLATE_INDEX" val="20231963"/>
  <p:tag name="KSO_WM_UNIT_LAYERLEVEL" val="1_1_1"/>
  <p:tag name="KSO_WM_TAG_VERSION" val="3.0"/>
  <p:tag name="KSO_WM_UNIT_TEXT_FILL_FORE_SCHEMECOLOR_INDEX_BRIGHTNESS" val="0.5"/>
  <p:tag name="KSO_WM_UNIT_VALUE" val="6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87.3500424218366,&quot;left&quot;:1.8,&quot;top&quot;:131.3749969482422,&quot;width&quot;:934.991259842519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  <p:tag name="KSO_WM_UNIT_TEXT_TYPE" val="1"/>
  <p:tag name="KSO_WM_UNIT_TEXT_LAYER_COUNT" val="1"/>
  <p:tag name="KSO_WM_BEAUTIFY_FLAG" val="#wm#"/>
  <p:tag name="KSO_WM_UNIT_PRESET_TEXT" val="单击此处输入你的项正文，文字是您思想的提炼，单击此处文本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38.xml><?xml version="1.0" encoding="utf-8"?>
<p:tagLst xmlns:p="http://schemas.openxmlformats.org/presentationml/2006/main">
  <p:tag name="KSO_WM_TEMPLATE_CATEGORY" val="diagram"/>
  <p:tag name="KSO_WM_TEMPLATE_INDEX" val="160809"/>
  <p:tag name="KSO_WM_BEAUTIFY_FLAG" val="#wm#"/>
  <p:tag name="KSO_WM_TAG_VERSION" val="1.0"/>
  <p:tag name="KSO_WM_UNIT_TYPE" val="r_t"/>
  <p:tag name="KSO_WM_UNIT_INDEX" val="1_1"/>
  <p:tag name="KSO_WM_UNIT_ID" val="256*r_t*1_1"/>
  <p:tag name="KSO_WM_UNIT_CLEAR" val="1"/>
  <p:tag name="KSO_WM_UNIT_LAYERLEVEL" val="1_1"/>
  <p:tag name="KSO_WM_UNIT_DIAGRAM_CONTRAST_TITLE_CNT" val="2"/>
  <p:tag name="KSO_WM_UNIT_DIAGRAM_DIMENSION_TITLE_CNT" val="1"/>
  <p:tag name="KSO_WM_UNIT_VALUE" val="9"/>
  <p:tag name="KSO_WM_UNIT_HIGHLIGHT" val="0"/>
  <p:tag name="KSO_WM_UNIT_COMPATIBLE" val="0"/>
  <p:tag name="KSO_WM_UNIT_PRESET_TEXT" val="编辑标题"/>
  <p:tag name="KSO_WM_DIAGRAM_GROUP_CODE" val="r1-1"/>
  <p:tag name="KSO_WM_UNIT_FILL_FORE_SCHEMECOLOR_INDEX" val="7"/>
  <p:tag name="KSO_WM_UNIT_FILL_TYPE" val="1"/>
  <p:tag name="KSO_WM_DIAGRAM_VIRTUALLY_FRAME" val="{&quot;height&quot;:289.0836220472441,&quot;left&quot;:69.34992125984252,&quot;top&quot;:70.86637795275591,&quot;width&quot;:835.6500787401576}"/>
</p:tagLst>
</file>

<file path=ppt/tags/tag239.xml><?xml version="1.0" encoding="utf-8"?>
<p:tagLst xmlns:p="http://schemas.openxmlformats.org/presentationml/2006/main">
  <p:tag name="KSO_WM_TEMPLATE_CATEGORY" val="diagram"/>
  <p:tag name="KSO_WM_TEMPLATE_INDEX" val="160809"/>
  <p:tag name="KSO_WM_BEAUTIFY_FLAG" val="#wm#"/>
  <p:tag name="KSO_WM_TAG_VERSION" val="1.0"/>
  <p:tag name="KSO_WM_UNIT_TYPE" val="r_t"/>
  <p:tag name="KSO_WM_UNIT_INDEX" val="1_2"/>
  <p:tag name="KSO_WM_UNIT_ID" val="256*r_t*1_2"/>
  <p:tag name="KSO_WM_UNIT_CLEAR" val="1"/>
  <p:tag name="KSO_WM_UNIT_LAYERLEVEL" val="1_1"/>
  <p:tag name="KSO_WM_UNIT_DIAGRAM_CONTRAST_TITLE_CNT" val="2"/>
  <p:tag name="KSO_WM_UNIT_DIAGRAM_DIMENSION_TITLE_CNT" val="1"/>
  <p:tag name="KSO_WM_UNIT_VALUE" val="10"/>
  <p:tag name="KSO_WM_UNIT_HIGHLIGHT" val="0"/>
  <p:tag name="KSO_WM_UNIT_COMPATIBLE" val="0"/>
  <p:tag name="KSO_WM_UNIT_PRESET_TEXT" val="编辑标题"/>
  <p:tag name="KSO_WM_DIAGRAM_GROUP_CODE" val="r1-1"/>
  <p:tag name="KSO_WM_UNIT_FILL_FORE_SCHEMECOLOR_INDEX" val="5"/>
  <p:tag name="KSO_WM_UNIT_FILL_TYPE" val="1"/>
  <p:tag name="KSO_WM_DIAGRAM_VIRTUALLY_FRAME" val="{&quot;height&quot;:289.0836220472441,&quot;left&quot;:69.34992125984252,&quot;top&quot;:70.86637795275591,&quot;width&quot;:835.6500787401576}"/>
</p:tagLst>
</file>

<file path=ppt/tags/tag240.xml><?xml version="1.0" encoding="utf-8"?>
<p:tagLst xmlns:p="http://schemas.openxmlformats.org/presentationml/2006/main">
  <p:tag name="KSO_WM_TEMPLATE_CATEGORY" val="diagram"/>
  <p:tag name="KSO_WM_TEMPLATE_INDEX" val="160809"/>
  <p:tag name="KSO_WM_BEAUTIFY_FLAG" val="#wm#"/>
  <p:tag name="KSO_WM_TAG_VERSION" val="1.0"/>
  <p:tag name="KSO_WM_UNIT_TYPE" val="r_v"/>
  <p:tag name="KSO_WM_UNIT_INDEX" val="1_2"/>
  <p:tag name="KSO_WM_UNIT_ID" val="256*r_v*1_2"/>
  <p:tag name="KSO_WM_UNIT_CLEAR" val="1"/>
  <p:tag name="KSO_WM_UNIT_LAYERLEVEL" val="1_1"/>
  <p:tag name="KSO_WM_UNIT_DIAGRAM_CONTRAST_TITLE_CNT" val="2"/>
  <p:tag name="KSO_WM_UNIT_DIAGRAM_DIMENSION_TITLE_CNT" val="1"/>
  <p:tag name="KSO_WM_UNIT_VALUE" val="40"/>
  <p:tag name="KSO_WM_UNIT_HIGHLIGHT" val="0"/>
  <p:tag name="KSO_WM_UNIT_COMPATIBLE" val="0"/>
  <p:tag name="KSO_WM_UNIT_PRESET_TEXT_INDEX" val="2"/>
  <p:tag name="KSO_WM_UNIT_PRESET_TEXT_LEN" val="30"/>
  <p:tag name="KSO_WM_DIAGRAM_GROUP_CODE" val="r1-1"/>
  <p:tag name="KSO_WM_UNIT_TEXT_FILL_FORE_SCHEMECOLOR_INDEX" val="13"/>
  <p:tag name="KSO_WM_UNIT_TEXT_FILL_TYPE" val="1"/>
  <p:tag name="KSO_WM_DIAGRAM_VIRTUALLY_FRAME" val="{&quot;height&quot;:289.0836220472441,&quot;left&quot;:69.34992125984252,&quot;top&quot;:70.86637795275591,&quot;width&quot;:835.6500787401576}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TEMPLATE_CATEGORY" val="diagram"/>
  <p:tag name="KSO_WM_TEMPLATE_INDEX" val="160809"/>
  <p:tag name="KSO_WM_BEAUTIFY_FLAG" val="#wm#"/>
  <p:tag name="KSO_WM_TAG_VERSION" val="1.0"/>
  <p:tag name="KSO_WM_UNIT_TYPE" val="r_v"/>
  <p:tag name="KSO_WM_UNIT_INDEX" val="1_2"/>
  <p:tag name="KSO_WM_UNIT_ID" val="256*r_v*1_2"/>
  <p:tag name="KSO_WM_UNIT_CLEAR" val="1"/>
  <p:tag name="KSO_WM_UNIT_LAYERLEVEL" val="1_1"/>
  <p:tag name="KSO_WM_UNIT_DIAGRAM_CONTRAST_TITLE_CNT" val="2"/>
  <p:tag name="KSO_WM_UNIT_DIAGRAM_DIMENSION_TITLE_CNT" val="1"/>
  <p:tag name="KSO_WM_UNIT_VALUE" val="40"/>
  <p:tag name="KSO_WM_UNIT_HIGHLIGHT" val="0"/>
  <p:tag name="KSO_WM_UNIT_COMPATIBLE" val="0"/>
  <p:tag name="KSO_WM_UNIT_PRESET_TEXT_INDEX" val="2"/>
  <p:tag name="KSO_WM_UNIT_PRESET_TEXT_LEN" val="30"/>
  <p:tag name="KSO_WM_DIAGRAM_GROUP_CODE" val="r1-1"/>
  <p:tag name="KSO_WM_UNIT_TEXT_FILL_FORE_SCHEMECOLOR_INDEX" val="13"/>
  <p:tag name="KSO_WM_UNIT_TEXT_FILL_TYPE" val="1"/>
  <p:tag name="KSO_WM_DIAGRAM_VIRTUALLY_FRAME" val="{&quot;height&quot;:289.0836220472441,&quot;left&quot;:69.34992125984252,&quot;top&quot;:70.86637795275591,&quot;width&quot;:835.6500787401576}"/>
</p:tagLst>
</file>

<file path=ppt/tags/tag244.xml><?xml version="1.0" encoding="utf-8"?>
<p:tagLst xmlns:p="http://schemas.openxmlformats.org/presentationml/2006/main">
  <p:tag name="KSO_WM_TEMPLATE_CATEGORY" val="diagram"/>
  <p:tag name="KSO_WM_TEMPLATE_INDEX" val="160809"/>
  <p:tag name="KSO_WM_BEAUTIFY_FLAG" val="#wm#"/>
  <p:tag name="KSO_WM_TAG_VERSION" val="1.0"/>
  <p:tag name="KSO_WM_UNIT_TYPE" val="r_v"/>
  <p:tag name="KSO_WM_UNIT_INDEX" val="1_2"/>
  <p:tag name="KSO_WM_UNIT_ID" val="256*r_v*1_2"/>
  <p:tag name="KSO_WM_UNIT_CLEAR" val="1"/>
  <p:tag name="KSO_WM_UNIT_LAYERLEVEL" val="1_1"/>
  <p:tag name="KSO_WM_UNIT_DIAGRAM_CONTRAST_TITLE_CNT" val="2"/>
  <p:tag name="KSO_WM_UNIT_DIAGRAM_DIMENSION_TITLE_CNT" val="1"/>
  <p:tag name="KSO_WM_UNIT_VALUE" val="40"/>
  <p:tag name="KSO_WM_UNIT_HIGHLIGHT" val="0"/>
  <p:tag name="KSO_WM_UNIT_COMPATIBLE" val="0"/>
  <p:tag name="KSO_WM_UNIT_PRESET_TEXT_INDEX" val="2"/>
  <p:tag name="KSO_WM_UNIT_PRESET_TEXT_LEN" val="30"/>
  <p:tag name="KSO_WM_DIAGRAM_GROUP_CODE" val="r1-1"/>
  <p:tag name="KSO_WM_UNIT_TEXT_FILL_FORE_SCHEMECOLOR_INDEX" val="13"/>
  <p:tag name="KSO_WM_UNIT_TEXT_FILL_TYPE" val="1"/>
  <p:tag name="KSO_WM_DIAGRAM_VIRTUALLY_FRAME" val="{&quot;height&quot;:289.0836220472441,&quot;left&quot;:69.34992125984252,&quot;top&quot;:70.86637795275591,&quot;width&quot;:835.6500787401576}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TEMPLATE_CATEGORY" val="diagram"/>
  <p:tag name="KSO_WM_TEMPLATE_INDEX" val="160809"/>
  <p:tag name="KSO_WM_BEAUTIFY_FLAG" val="#wm#"/>
  <p:tag name="KSO_WM_TAG_VERSION" val="1.0"/>
  <p:tag name="KSO_WM_UNIT_TYPE" val="r_v"/>
  <p:tag name="KSO_WM_UNIT_INDEX" val="1_2"/>
  <p:tag name="KSO_WM_UNIT_ID" val="256*r_v*1_2"/>
  <p:tag name="KSO_WM_UNIT_CLEAR" val="1"/>
  <p:tag name="KSO_WM_UNIT_LAYERLEVEL" val="1_1"/>
  <p:tag name="KSO_WM_UNIT_DIAGRAM_CONTRAST_TITLE_CNT" val="2"/>
  <p:tag name="KSO_WM_UNIT_DIAGRAM_DIMENSION_TITLE_CNT" val="1"/>
  <p:tag name="KSO_WM_UNIT_VALUE" val="40"/>
  <p:tag name="KSO_WM_UNIT_HIGHLIGHT" val="0"/>
  <p:tag name="KSO_WM_UNIT_COMPATIBLE" val="0"/>
  <p:tag name="KSO_WM_UNIT_PRESET_TEXT_INDEX" val="2"/>
  <p:tag name="KSO_WM_UNIT_PRESET_TEXT_LEN" val="30"/>
  <p:tag name="KSO_WM_DIAGRAM_GROUP_CODE" val="r1-1"/>
  <p:tag name="KSO_WM_UNIT_TEXT_FILL_FORE_SCHEMECOLOR_INDEX" val="13"/>
  <p:tag name="KSO_WM_UNIT_TEXT_FILL_TYPE" val="1"/>
  <p:tag name="KSO_WM_DIAGRAM_VIRTUALLY_FRAME" val="{&quot;height&quot;:289.0836220472441,&quot;left&quot;:69.34992125984252,&quot;top&quot;:70.86637795275591,&quot;width&quot;:835.6500787401576}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COMMONDATA" val="eyJoZGlkIjoiY2Y1NDNjMDc1OTFhMGExZjUxYjkwOTRhMGFkOWMwNTQifQ=="/>
  <p:tag name="resource_record_key" val="{&quot;10&quot;:[21595943,50038510],&quot;65&quot;:[20204587],&quot;70&quot;:[3323870,3322237,3321412]}"/>
</p:tagLst>
</file>

<file path=ppt/theme/theme1.xml><?xml version="1.0" encoding="utf-8"?>
<a:theme xmlns:a="http://schemas.openxmlformats.org/drawingml/2006/main" name="1_Office 主题​​">
  <a:themeElements>
    <a:clrScheme name="自定义 25">
      <a:dk1>
        <a:srgbClr val="000000"/>
      </a:dk1>
      <a:lt1>
        <a:srgbClr val="FFFFFF"/>
      </a:lt1>
      <a:dk2>
        <a:srgbClr val="F3F8FC"/>
      </a:dk2>
      <a:lt2>
        <a:srgbClr val="FBFCFC"/>
      </a:lt2>
      <a:accent1>
        <a:srgbClr val="13568D"/>
      </a:accent1>
      <a:accent2>
        <a:srgbClr val="5A9AE0"/>
      </a:accent2>
      <a:accent3>
        <a:srgbClr val="33CBD5"/>
      </a:accent3>
      <a:accent4>
        <a:srgbClr val="4694CB"/>
      </a:accent4>
      <a:accent5>
        <a:srgbClr val="6775C8"/>
      </a:accent5>
      <a:accent6>
        <a:srgbClr val="D77F64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2526</Words>
  <Application>WPS 演示</Application>
  <PresentationFormat>宽屏</PresentationFormat>
  <Paragraphs>241</Paragraphs>
  <Slides>15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汉仪旗黑-85S</vt:lpstr>
      <vt:lpstr>黑体</vt:lpstr>
      <vt:lpstr>等线</vt:lpstr>
      <vt:lpstr>方正大标宋_GBK</vt:lpstr>
      <vt:lpstr>仿宋</vt:lpstr>
      <vt:lpstr>思源黑体 CN Heavy</vt:lpstr>
      <vt:lpstr>思源黑体 CN Regular</vt:lpstr>
      <vt:lpstr>Arial Unicode MS</vt:lpstr>
      <vt:lpstr>Calibri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HITSZ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Oliver Wu</dc:creator>
  <cp:lastModifiedBy>大傻子</cp:lastModifiedBy>
  <cp:revision>271</cp:revision>
  <dcterms:created xsi:type="dcterms:W3CDTF">2022-07-10T16:35:00Z</dcterms:created>
  <dcterms:modified xsi:type="dcterms:W3CDTF">2025-10-22T00:30:34Z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1DBDC0377C03413E924F4CC224A72FD0_13</vt:lpwstr>
  </property>
  <property fmtid="{D5CDD505-2E9C-101B-9397-08002B2CF9AE}" pid="3" name="KSOProductBuildVer">
    <vt:lpwstr>2052-12.1.0.23125</vt:lpwstr>
  </property>
</Properties>
</file>